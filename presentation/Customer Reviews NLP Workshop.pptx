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walk through four tasks on one dataset of Amazon device reviews: a sentiment model, product clustering, generated buying guides and a deployed demo. The bar at the bottom previews the biggest challenge: almost all reviews are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tasks. The cleaned data trains the sentiment model. The clusters decide which products go into each article. The sentiment model is what we deploy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is the Datafiniti Amazon reviews, 34,660 rows in the raw file, 34,597 after cleaning. About 40 products, but six of them hold 88 percent of the reviews: Fire tablets, Echo, Fire TV and Kindle e-readers. That concentration shapes the clustering choice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challenge. Star ratings map to three classes, and positive is 93 percent of the data. A model that never looks at the text and always says positive gets 93 percent accuracy. That is why accuracy alone is misleading and why macro-F1 is our headline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removals, 63 reviews in total. We checked for the same text with different ratings and found none. We kept the title together with the review body and left capitalisation and punctuation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sets the floor and is easy to interpret. RoBERTa was fine-tuned on a Colab T4 GPU. Class weights are softened with a square root, because fully balanced weights would make the negative class count about 40 times more than positive. Both models see exactly the same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barely moves because positive dominates. Macro-F1 rises from 0.654 to 0.709, and negative F1 rises by about 11 points. We did not run a significance test, so with so few negative and neutral reviews treat small differences as possibly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limit of the model. Neutral reviews are often mixed, for example a tablet that is fine for reading but slow for apps. Better models help a little, but part of the problem is that the label itself is ambiguous.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cluster at product level, so each product counts once, then every review inherits its product's cluster. KMeans gave six clusters. One had only 34 reviews, cases and covers, so a rule merged it into its nearest cluster, which gave five meta-categories.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 come from reading each cluster's distinctive review words and Amazon categories. For example the streaming cluster shows firetv, roku and 4k, and the e-reader cluster shows backlight and oasis. Accessories combines chargers, cables and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surprise in the data. The name column often contradicts the product's categories and reviews. The first product is described as a charger by its categories and reviews, yet its most common name is a Kindle e-reader. We built a verified name table by hand, from categories and the words reviewers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choice. Pandas ranks the top three products, finds the top complaints and what reviewers praise, and builds a fact sheet. The model is Qwen2.5-3B-Instruct with low temperature. We compared three prompt variants and scored each article automatically for invented numbers, unknown product names, coverage and length. Small models invent numbers when they read raw reviews, which is why the facts are computed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read the first articles against the fact sheets line by line. The Fire TV article was faithful. Others invented features or stretched a percentage across two complaints. Every fix either improved the fact sheet or tightened the prompt. A checker for invented product names catches some problems, but reading the articles is still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trained model is uploaded to the Hugging Face Hub and a small Gradio app loads it. The Space is public, so anyone can paste a review. The app showed a startup error until we marked the predict function for ZeroGPU. Try a clearly positive review, a clearly negative one and a mixed one, which should come out neutral or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lessons that apply beyond this dataset. First, pick metrics that match the class balance. Second, inspect the data, since a clean-looking column can be wrong. Third, separate computing facts from writing text when using a small language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extensions. A larger model or a fine-tuned writer for Task 3, a binary or five-class variant for Task 1, and the two bonus tasks from the brief. Then open the floor for questions, and share the demo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4"/>
            <a:ext cx="10566400" cy="480060"/>
          </a:xfrm>
          <a:prstGeom prst="rect">
            <a:avLst/>
          </a:prstGeom>
          <a:noFill/>
          <a:ln/>
        </p:spPr>
        <p:txBody>
          <a:bodyPr wrap="square" lIns="0" tIns="0" rIns="0" bIns="0" rtlCol="0" anchor="t"/>
          <a:lstStyle>
            <a:lvl1pPr algn="l" indent="0" marL="0">
              <a:lnSpc>
                <a:spcPct val="115000"/>
              </a:lnSpc>
              <a:buNone/>
              <a:defRPr lang="en-US" sz="3600" dirty="0">
                <a:solidFill>
                  <a:srgbClr val="101418"/>
                </a:solidFill>
                <a:latin typeface="Inter" pitchFamily="34" charset="0"/>
                <a:ea typeface="Inter" pitchFamily="34" charset="-122"/>
                <a:cs typeface="Int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12624"/>
            <a:ext cx="10566400" cy="4132576"/>
          </a:xfrm>
          <a:prstGeom prst="rect">
            <a:avLst/>
          </a:prstGeom>
          <a:noFill/>
          <a:ln/>
        </p:spPr>
        <p:txBody>
          <a:bodyPr wrap="square" lIns="0" tIns="0" rIns="0" bIns="0" rtlCol="0" anchor="t"/>
          <a:lstStyle>
            <a:lvl1pPr algn="l" indent="0" marL="0">
              <a:lnSpc>
                <a:spcPct val="140000"/>
              </a:lnSpc>
              <a:buNone/>
              <a:defRPr lang="en-US" sz="1600" dirty="0">
                <a:solidFill>
                  <a:srgbClr val="101418"/>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4"/>
            <a:ext cx="10566400" cy="480060"/>
          </a:xfrm>
          <a:prstGeom prst="rect">
            <a:avLst/>
          </a:prstGeom>
          <a:noFill/>
          <a:ln/>
        </p:spPr>
        <p:txBody>
          <a:bodyPr wrap="square" lIns="0" tIns="0" rIns="0" bIns="0" rtlCol="0" anchor="t"/>
          <a:lstStyle>
            <a:lvl1pPr algn="l" indent="0" marL="0">
              <a:lnSpc>
                <a:spcPct val="115000"/>
              </a:lnSpc>
              <a:buNone/>
              <a:defRPr lang="en-US" sz="3600" dirty="0">
                <a:solidFill>
                  <a:srgbClr val="101418"/>
                </a:solidFill>
                <a:latin typeface="Inter" pitchFamily="34" charset="0"/>
                <a:ea typeface="Inter" pitchFamily="34" charset="-122"/>
                <a:cs typeface="Int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12624"/>
            <a:ext cx="10566400" cy="4132576"/>
          </a:xfrm>
          <a:prstGeom prst="rect">
            <a:avLst/>
          </a:prstGeom>
          <a:noFill/>
          <a:ln/>
        </p:spPr>
        <p:txBody>
          <a:bodyPr wrap="square" lIns="0" tIns="0" rIns="0" bIns="0" rtlCol="0" anchor="t"/>
          <a:lstStyle>
            <a:lvl1pPr algn="l" indent="0" marL="0">
              <a:lnSpc>
                <a:spcPct val="140000"/>
              </a:lnSpc>
              <a:buNone/>
              <a:defRPr lang="en-US" sz="1600" dirty="0">
                <a:solidFill>
                  <a:srgbClr val="101418"/>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41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B0FF"/>
                </a:solidFill>
                <a:latin typeface="Inter" pitchFamily="34" charset="0"/>
                <a:ea typeface="Inter" pitchFamily="34" charset="-122"/>
                <a:cs typeface="Inter" pitchFamily="34" charset="-120"/>
              </a:rPr>
              <a:t>NLP WORKSHOP</a:t>
            </a:r>
            <a:endParaRPr lang="en-US" sz="1200" dirty="0"/>
          </a:p>
        </p:txBody>
      </p:sp>
      <p:sp>
        <p:nvSpPr>
          <p:cNvPr id="3" name="Text 1"/>
          <p:cNvSpPr/>
          <p:nvPr>
            <p:ph type="title"/>
          </p:nvPr>
        </p:nvSpPr>
        <p:spPr>
          <a:xfrm>
            <a:off x="812800" y="2256790"/>
            <a:ext cx="10883392" cy="1549400"/>
          </a:xfrm>
          <a:prstGeom prst="rect">
            <a:avLst/>
          </a:prstGeom>
          <a:noFill/>
          <a:ln/>
        </p:spPr>
        <p:txBody>
          <a:bodyPr wrap="square" lIns="0" tIns="0" rIns="0" bIns="0" rtlCol="0" anchor="t">
            <a:normAutofit/>
          </a:bodyPr>
          <a:lstStyle/>
          <a:p>
            <a:pPr algn="l" indent="0" marL="0">
              <a:lnSpc>
                <a:spcPts val="6000"/>
              </a:lnSpc>
              <a:buNone/>
            </a:pPr>
            <a:r>
              <a:rPr lang="en-US" sz="6000" b="1" i="0" spc="-150" kern="0" dirty="0">
                <a:solidFill>
                  <a:srgbClr val="FAFAF8"/>
                </a:solidFill>
                <a:latin typeface="Inter" pitchFamily="34" charset="0"/>
                <a:ea typeface="Inter" pitchFamily="34" charset="-122"/>
                <a:cs typeface="Inter" pitchFamily="34" charset="-120"/>
              </a:rPr>
              <a:t>Making sense of customer reviews</a:t>
            </a:r>
            <a:endParaRPr lang="en-US" sz="6000" dirty="0"/>
          </a:p>
        </p:txBody>
      </p:sp>
      <p:sp>
        <p:nvSpPr>
          <p:cNvPr id="4" name="Text 2"/>
          <p:cNvSpPr/>
          <p:nvPr/>
        </p:nvSpPr>
        <p:spPr>
          <a:xfrm>
            <a:off x="812800" y="3983990"/>
            <a:ext cx="10883392"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A7B0B8"/>
                </a:solidFill>
                <a:latin typeface="Inter" pitchFamily="34" charset="0"/>
                <a:ea typeface="Inter" pitchFamily="34" charset="-122"/>
                <a:cs typeface="Inter" pitchFamily="34" charset="-120"/>
              </a:rPr>
              <a:t>Sentiment, clusters, generated guides and a live demo</a:t>
            </a:r>
            <a:endParaRPr lang="en-US" sz="2200" dirty="0"/>
          </a:p>
        </p:txBody>
      </p:sp>
      <p:sp>
        <p:nvSpPr>
          <p:cNvPr id="5" name="Shape 3"/>
          <p:cNvSpPr/>
          <p:nvPr/>
        </p:nvSpPr>
        <p:spPr>
          <a:xfrm>
            <a:off x="812800" y="5577840"/>
            <a:ext cx="9797097" cy="127000"/>
          </a:xfrm>
          <a:prstGeom prst="rect">
            <a:avLst/>
          </a:prstGeom>
          <a:solidFill>
            <a:srgbClr val="8FB0FF"/>
          </a:solidFill>
          <a:ln/>
        </p:spPr>
      </p:sp>
      <p:sp>
        <p:nvSpPr>
          <p:cNvPr id="6" name="Shape 4"/>
          <p:cNvSpPr/>
          <p:nvPr/>
        </p:nvSpPr>
        <p:spPr>
          <a:xfrm>
            <a:off x="10647997" y="5577840"/>
            <a:ext cx="451564" cy="127000"/>
          </a:xfrm>
          <a:prstGeom prst="rect">
            <a:avLst/>
          </a:prstGeom>
          <a:solidFill>
            <a:srgbClr val="9AA0A6"/>
          </a:solidFill>
          <a:ln/>
        </p:spPr>
      </p:sp>
      <p:sp>
        <p:nvSpPr>
          <p:cNvPr id="7" name="Shape 5"/>
          <p:cNvSpPr/>
          <p:nvPr/>
        </p:nvSpPr>
        <p:spPr>
          <a:xfrm>
            <a:off x="11137662" y="5577840"/>
            <a:ext cx="241538" cy="127000"/>
          </a:xfrm>
          <a:prstGeom prst="rect">
            <a:avLst/>
          </a:prstGeom>
          <a:solidFill>
            <a:srgbClr val="E8731A"/>
          </a:solidFill>
          <a:ln/>
        </p:spPr>
      </p:sp>
      <p:sp>
        <p:nvSpPr>
          <p:cNvPr id="8" name="Text 6"/>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B0B8"/>
                </a:solidFill>
                <a:latin typeface="Inter" pitchFamily="34" charset="0"/>
                <a:ea typeface="Inter" pitchFamily="34" charset="-122"/>
                <a:cs typeface="Inter" pitchFamily="34" charset="-120"/>
              </a:rPr>
              <a:t>34,597 Amazon device reviews: 93% positive, 4% neutral, 2% negative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7F5"/>
                </a:solidFill>
                <a:latin typeface="Inter" pitchFamily="34" charset="0"/>
                <a:ea typeface="Inter" pitchFamily="34" charset="-122"/>
                <a:cs typeface="Inter" pitchFamily="34" charset="-120"/>
              </a:rPr>
              <a:t>THE PLAN</a:t>
            </a:r>
            <a:endParaRPr lang="en-US" sz="1200" dirty="0"/>
          </a:p>
        </p:txBody>
      </p:sp>
      <p:sp>
        <p:nvSpPr>
          <p:cNvPr id="3" name="Text 1"/>
          <p:cNvSpPr/>
          <p:nvPr>
            <p:ph type="title"/>
          </p:nvPr>
        </p:nvSpPr>
        <p:spPr>
          <a:xfrm>
            <a:off x="812800" y="1127760"/>
            <a:ext cx="10883392" cy="50546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01418"/>
                </a:solidFill>
                <a:latin typeface="Inter" pitchFamily="34" charset="0"/>
                <a:ea typeface="Inter" pitchFamily="34" charset="-122"/>
                <a:cs typeface="Inter" pitchFamily="34" charset="-120"/>
              </a:rPr>
              <a:t>Four tasks, one pipeline</a:t>
            </a:r>
            <a:endParaRPr lang="en-US" sz="3600" dirty="0"/>
          </a:p>
        </p:txBody>
      </p:sp>
      <p:sp>
        <p:nvSpPr>
          <p:cNvPr id="4" name="Shape 2"/>
          <p:cNvSpPr/>
          <p:nvPr/>
        </p:nvSpPr>
        <p:spPr>
          <a:xfrm>
            <a:off x="812800" y="3876040"/>
            <a:ext cx="2413000" cy="0"/>
          </a:xfrm>
          <a:prstGeom prst="line">
            <a:avLst/>
          </a:prstGeom>
          <a:noFill/>
          <a:ln w="25400">
            <a:solidFill>
              <a:srgbClr val="2457F5"/>
            </a:solidFill>
            <a:prstDash val="solid"/>
          </a:ln>
        </p:spPr>
      </p:sp>
      <p:sp>
        <p:nvSpPr>
          <p:cNvPr id="5" name="Text 3"/>
          <p:cNvSpPr/>
          <p:nvPr/>
        </p:nvSpPr>
        <p:spPr>
          <a:xfrm>
            <a:off x="812800" y="4091940"/>
            <a:ext cx="248539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457F5"/>
                </a:solidFill>
                <a:latin typeface="Inter" pitchFamily="34" charset="0"/>
                <a:ea typeface="Inter" pitchFamily="34" charset="-122"/>
                <a:cs typeface="Inter" pitchFamily="34" charset="-120"/>
              </a:rPr>
              <a:t>01</a:t>
            </a:r>
            <a:endParaRPr lang="en-US" sz="2200" dirty="0"/>
          </a:p>
        </p:txBody>
      </p:sp>
      <p:sp>
        <p:nvSpPr>
          <p:cNvPr id="6" name="Text 4"/>
          <p:cNvSpPr/>
          <p:nvPr/>
        </p:nvSpPr>
        <p:spPr>
          <a:xfrm>
            <a:off x="812800" y="4500880"/>
            <a:ext cx="248539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1418"/>
                </a:solidFill>
                <a:latin typeface="Inter" pitchFamily="34" charset="0"/>
                <a:ea typeface="Inter" pitchFamily="34" charset="-122"/>
                <a:cs typeface="Inter" pitchFamily="34" charset="-120"/>
              </a:rPr>
              <a:t>Sentiment model</a:t>
            </a:r>
            <a:endParaRPr lang="en-US" sz="2200" dirty="0"/>
          </a:p>
        </p:txBody>
      </p:sp>
      <p:sp>
        <p:nvSpPr>
          <p:cNvPr id="7" name="Text 5"/>
          <p:cNvSpPr/>
          <p:nvPr/>
        </p:nvSpPr>
        <p:spPr>
          <a:xfrm>
            <a:off x="812800" y="4937760"/>
            <a:ext cx="248539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Classify each review as negative, neutral or positive.</a:t>
            </a:r>
            <a:endParaRPr lang="en-US" sz="1600" dirty="0"/>
          </a:p>
        </p:txBody>
      </p:sp>
      <p:sp>
        <p:nvSpPr>
          <p:cNvPr id="8" name="Shape 6"/>
          <p:cNvSpPr/>
          <p:nvPr/>
        </p:nvSpPr>
        <p:spPr>
          <a:xfrm>
            <a:off x="3530600" y="3876040"/>
            <a:ext cx="2413000" cy="0"/>
          </a:xfrm>
          <a:prstGeom prst="line">
            <a:avLst/>
          </a:prstGeom>
          <a:noFill/>
          <a:ln w="25400">
            <a:solidFill>
              <a:srgbClr val="2457F5"/>
            </a:solidFill>
            <a:prstDash val="solid"/>
          </a:ln>
        </p:spPr>
      </p:sp>
      <p:sp>
        <p:nvSpPr>
          <p:cNvPr id="9" name="Text 7"/>
          <p:cNvSpPr/>
          <p:nvPr/>
        </p:nvSpPr>
        <p:spPr>
          <a:xfrm>
            <a:off x="3530600" y="4091940"/>
            <a:ext cx="248539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457F5"/>
                </a:solidFill>
                <a:latin typeface="Inter" pitchFamily="34" charset="0"/>
                <a:ea typeface="Inter" pitchFamily="34" charset="-122"/>
                <a:cs typeface="Inter" pitchFamily="34" charset="-120"/>
              </a:rPr>
              <a:t>02</a:t>
            </a:r>
            <a:endParaRPr lang="en-US" sz="2200" dirty="0"/>
          </a:p>
        </p:txBody>
      </p:sp>
      <p:sp>
        <p:nvSpPr>
          <p:cNvPr id="10" name="Text 8"/>
          <p:cNvSpPr/>
          <p:nvPr/>
        </p:nvSpPr>
        <p:spPr>
          <a:xfrm>
            <a:off x="3530600" y="4500880"/>
            <a:ext cx="2485390"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1418"/>
                </a:solidFill>
                <a:latin typeface="Inter" pitchFamily="34" charset="0"/>
                <a:ea typeface="Inter" pitchFamily="34" charset="-122"/>
                <a:cs typeface="Inter" pitchFamily="34" charset="-120"/>
              </a:rPr>
              <a:t>Category clusters</a:t>
            </a:r>
            <a:endParaRPr lang="en-US" sz="2200" dirty="0"/>
          </a:p>
        </p:txBody>
      </p:sp>
      <p:sp>
        <p:nvSpPr>
          <p:cNvPr id="11" name="Text 9"/>
          <p:cNvSpPr/>
          <p:nvPr/>
        </p:nvSpPr>
        <p:spPr>
          <a:xfrm>
            <a:off x="3530600" y="5273040"/>
            <a:ext cx="248539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Group 36 products into 5 meta-categories.</a:t>
            </a:r>
            <a:endParaRPr lang="en-US" sz="1600" dirty="0"/>
          </a:p>
        </p:txBody>
      </p:sp>
      <p:sp>
        <p:nvSpPr>
          <p:cNvPr id="12" name="Shape 10"/>
          <p:cNvSpPr/>
          <p:nvPr/>
        </p:nvSpPr>
        <p:spPr>
          <a:xfrm>
            <a:off x="6248400" y="3876040"/>
            <a:ext cx="2413000" cy="0"/>
          </a:xfrm>
          <a:prstGeom prst="line">
            <a:avLst/>
          </a:prstGeom>
          <a:noFill/>
          <a:ln w="25400">
            <a:solidFill>
              <a:srgbClr val="2457F5"/>
            </a:solidFill>
            <a:prstDash val="solid"/>
          </a:ln>
        </p:spPr>
      </p:sp>
      <p:sp>
        <p:nvSpPr>
          <p:cNvPr id="13" name="Text 11"/>
          <p:cNvSpPr/>
          <p:nvPr/>
        </p:nvSpPr>
        <p:spPr>
          <a:xfrm>
            <a:off x="6248400" y="4091940"/>
            <a:ext cx="248539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457F5"/>
                </a:solidFill>
                <a:latin typeface="Inter" pitchFamily="34" charset="0"/>
                <a:ea typeface="Inter" pitchFamily="34" charset="-122"/>
                <a:cs typeface="Inter" pitchFamily="34" charset="-120"/>
              </a:rPr>
              <a:t>03</a:t>
            </a:r>
            <a:endParaRPr lang="en-US" sz="2200" dirty="0"/>
          </a:p>
        </p:txBody>
      </p:sp>
      <p:sp>
        <p:nvSpPr>
          <p:cNvPr id="14" name="Text 12"/>
          <p:cNvSpPr/>
          <p:nvPr/>
        </p:nvSpPr>
        <p:spPr>
          <a:xfrm>
            <a:off x="6248400" y="4500880"/>
            <a:ext cx="2485390"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1418"/>
                </a:solidFill>
                <a:latin typeface="Inter" pitchFamily="34" charset="0"/>
                <a:ea typeface="Inter" pitchFamily="34" charset="-122"/>
                <a:cs typeface="Inter" pitchFamily="34" charset="-120"/>
              </a:rPr>
              <a:t>Generated guides</a:t>
            </a:r>
            <a:endParaRPr lang="en-US" sz="2200" dirty="0"/>
          </a:p>
        </p:txBody>
      </p:sp>
      <p:sp>
        <p:nvSpPr>
          <p:cNvPr id="15" name="Text 13"/>
          <p:cNvSpPr/>
          <p:nvPr/>
        </p:nvSpPr>
        <p:spPr>
          <a:xfrm>
            <a:off x="6248400" y="5273040"/>
            <a:ext cx="248539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Write a buying guide for each category.</a:t>
            </a:r>
            <a:endParaRPr lang="en-US" sz="1600" dirty="0"/>
          </a:p>
        </p:txBody>
      </p:sp>
      <p:sp>
        <p:nvSpPr>
          <p:cNvPr id="16" name="Shape 14"/>
          <p:cNvSpPr/>
          <p:nvPr/>
        </p:nvSpPr>
        <p:spPr>
          <a:xfrm>
            <a:off x="8966200" y="3876040"/>
            <a:ext cx="2413000" cy="0"/>
          </a:xfrm>
          <a:prstGeom prst="line">
            <a:avLst/>
          </a:prstGeom>
          <a:noFill/>
          <a:ln w="25400">
            <a:solidFill>
              <a:srgbClr val="2457F5"/>
            </a:solidFill>
            <a:prstDash val="solid"/>
          </a:ln>
        </p:spPr>
      </p:sp>
      <p:sp>
        <p:nvSpPr>
          <p:cNvPr id="17" name="Text 15"/>
          <p:cNvSpPr/>
          <p:nvPr/>
        </p:nvSpPr>
        <p:spPr>
          <a:xfrm>
            <a:off x="8966200" y="4091940"/>
            <a:ext cx="248539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457F5"/>
                </a:solidFill>
                <a:latin typeface="Inter" pitchFamily="34" charset="0"/>
                <a:ea typeface="Inter" pitchFamily="34" charset="-122"/>
                <a:cs typeface="Inter" pitchFamily="34" charset="-120"/>
              </a:rPr>
              <a:t>04</a:t>
            </a:r>
            <a:endParaRPr lang="en-US" sz="2200" dirty="0"/>
          </a:p>
        </p:txBody>
      </p:sp>
      <p:sp>
        <p:nvSpPr>
          <p:cNvPr id="18" name="Text 16"/>
          <p:cNvSpPr/>
          <p:nvPr/>
        </p:nvSpPr>
        <p:spPr>
          <a:xfrm>
            <a:off x="8966200" y="4500880"/>
            <a:ext cx="248539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1418"/>
                </a:solidFill>
                <a:latin typeface="Inter" pitchFamily="34" charset="0"/>
                <a:ea typeface="Inter" pitchFamily="34" charset="-122"/>
                <a:cs typeface="Inter" pitchFamily="34" charset="-120"/>
              </a:rPr>
              <a:t>Live demo</a:t>
            </a:r>
            <a:endParaRPr lang="en-US" sz="2200" dirty="0"/>
          </a:p>
        </p:txBody>
      </p:sp>
      <p:sp>
        <p:nvSpPr>
          <p:cNvPr id="19" name="Text 17"/>
          <p:cNvSpPr/>
          <p:nvPr/>
        </p:nvSpPr>
        <p:spPr>
          <a:xfrm>
            <a:off x="8966200" y="4937760"/>
            <a:ext cx="248539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Put the sentiment model online for anyone to try.</a:t>
            </a:r>
            <a:endParaRPr lang="en-US" sz="1600" dirty="0"/>
          </a:p>
        </p:txBody>
      </p:sp>
      <p:sp>
        <p:nvSpPr>
          <p:cNvPr id="20" name="Text 18"/>
          <p:cNvSpPr/>
          <p:nvPr/>
        </p:nvSpPr>
        <p:spPr>
          <a:xfrm>
            <a:off x="812800" y="6238241"/>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Customer Reviews NLP Workshop</a:t>
            </a:r>
            <a:endParaRPr lang="en-US" sz="1200" dirty="0"/>
          </a:p>
        </p:txBody>
      </p:sp>
      <p:sp>
        <p:nvSpPr>
          <p:cNvPr id="21" name="Text 19"/>
          <p:cNvSpPr/>
          <p:nvPr/>
        </p:nvSpPr>
        <p:spPr>
          <a:xfrm>
            <a:off x="9417050" y="6238241"/>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78"/>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7F5"/>
                </a:solidFill>
                <a:latin typeface="Inter" pitchFamily="34" charset="0"/>
                <a:ea typeface="Inter" pitchFamily="34" charset="-122"/>
                <a:cs typeface="Inter" pitchFamily="34" charset="-120"/>
              </a:rPr>
              <a:t>THE DATA</a:t>
            </a:r>
            <a:endParaRPr lang="en-US" sz="1200" dirty="0"/>
          </a:p>
        </p:txBody>
      </p:sp>
      <p:sp>
        <p:nvSpPr>
          <p:cNvPr id="3" name="Text 1"/>
          <p:cNvSpPr/>
          <p:nvPr>
            <p:ph type="title"/>
          </p:nvPr>
        </p:nvSpPr>
        <p:spPr>
          <a:xfrm>
            <a:off x="812800" y="1127761"/>
            <a:ext cx="10883392" cy="50546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01418"/>
                </a:solidFill>
                <a:latin typeface="Inter" pitchFamily="34" charset="0"/>
                <a:ea typeface="Inter" pitchFamily="34" charset="-122"/>
                <a:cs typeface="Inter" pitchFamily="34" charset="-120"/>
              </a:rPr>
              <a:t>Amazon device reviews</a:t>
            </a:r>
            <a:endParaRPr lang="en-US" sz="3600" dirty="0"/>
          </a:p>
        </p:txBody>
      </p:sp>
      <p:sp>
        <p:nvSpPr>
          <p:cNvPr id="4" name="Shape 2"/>
          <p:cNvSpPr/>
          <p:nvPr/>
        </p:nvSpPr>
        <p:spPr>
          <a:xfrm>
            <a:off x="812800" y="2686050"/>
            <a:ext cx="3318907" cy="0"/>
          </a:xfrm>
          <a:prstGeom prst="line">
            <a:avLst/>
          </a:prstGeom>
          <a:noFill/>
          <a:ln w="25400">
            <a:solidFill>
              <a:srgbClr val="2457F5"/>
            </a:solidFill>
            <a:prstDash val="solid"/>
          </a:ln>
        </p:spPr>
      </p:sp>
      <p:sp>
        <p:nvSpPr>
          <p:cNvPr id="5" name="Text 3"/>
          <p:cNvSpPr/>
          <p:nvPr/>
        </p:nvSpPr>
        <p:spPr>
          <a:xfrm>
            <a:off x="812800" y="2901950"/>
            <a:ext cx="3418474"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2457F5"/>
                </a:solidFill>
                <a:latin typeface="Inter" pitchFamily="34" charset="0"/>
                <a:ea typeface="Inter" pitchFamily="34" charset="-122"/>
                <a:cs typeface="Inter" pitchFamily="34" charset="-120"/>
              </a:rPr>
              <a:t>34,597</a:t>
            </a:r>
            <a:endParaRPr lang="en-US" sz="6000" dirty="0"/>
          </a:p>
        </p:txBody>
      </p:sp>
      <p:sp>
        <p:nvSpPr>
          <p:cNvPr id="6" name="Text 4"/>
          <p:cNvSpPr/>
          <p:nvPr/>
        </p:nvSpPr>
        <p:spPr>
          <a:xfrm>
            <a:off x="812800" y="3765550"/>
            <a:ext cx="341847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reviews left after cleaning</a:t>
            </a:r>
            <a:endParaRPr lang="en-US" sz="1600" dirty="0"/>
          </a:p>
        </p:txBody>
      </p:sp>
      <p:sp>
        <p:nvSpPr>
          <p:cNvPr id="7" name="Shape 5"/>
          <p:cNvSpPr/>
          <p:nvPr/>
        </p:nvSpPr>
        <p:spPr>
          <a:xfrm>
            <a:off x="4436507" y="2686050"/>
            <a:ext cx="3318986" cy="0"/>
          </a:xfrm>
          <a:prstGeom prst="line">
            <a:avLst/>
          </a:prstGeom>
          <a:noFill/>
          <a:ln w="25400">
            <a:solidFill>
              <a:srgbClr val="2457F5"/>
            </a:solidFill>
            <a:prstDash val="solid"/>
          </a:ln>
        </p:spPr>
      </p:sp>
      <p:sp>
        <p:nvSpPr>
          <p:cNvPr id="8" name="Text 6"/>
          <p:cNvSpPr/>
          <p:nvPr/>
        </p:nvSpPr>
        <p:spPr>
          <a:xfrm>
            <a:off x="4436507" y="2901950"/>
            <a:ext cx="3418556"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2457F5"/>
                </a:solidFill>
                <a:latin typeface="Inter" pitchFamily="34" charset="0"/>
                <a:ea typeface="Inter" pitchFamily="34" charset="-122"/>
                <a:cs typeface="Inter" pitchFamily="34" charset="-120"/>
              </a:rPr>
              <a:t>~40</a:t>
            </a:r>
            <a:endParaRPr lang="en-US" sz="6000" dirty="0"/>
          </a:p>
        </p:txBody>
      </p:sp>
      <p:sp>
        <p:nvSpPr>
          <p:cNvPr id="9" name="Text 7"/>
          <p:cNvSpPr/>
          <p:nvPr/>
        </p:nvSpPr>
        <p:spPr>
          <a:xfrm>
            <a:off x="4436507" y="3765550"/>
            <a:ext cx="341855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products, identified by ASIN code</a:t>
            </a:r>
            <a:endParaRPr lang="en-US" sz="1600" dirty="0"/>
          </a:p>
        </p:txBody>
      </p:sp>
      <p:sp>
        <p:nvSpPr>
          <p:cNvPr id="10" name="Shape 8"/>
          <p:cNvSpPr/>
          <p:nvPr/>
        </p:nvSpPr>
        <p:spPr>
          <a:xfrm>
            <a:off x="8060293" y="2686050"/>
            <a:ext cx="3318907" cy="0"/>
          </a:xfrm>
          <a:prstGeom prst="line">
            <a:avLst/>
          </a:prstGeom>
          <a:noFill/>
          <a:ln w="25400">
            <a:solidFill>
              <a:srgbClr val="2457F5"/>
            </a:solidFill>
            <a:prstDash val="solid"/>
          </a:ln>
        </p:spPr>
      </p:sp>
      <p:sp>
        <p:nvSpPr>
          <p:cNvPr id="11" name="Text 9"/>
          <p:cNvSpPr/>
          <p:nvPr/>
        </p:nvSpPr>
        <p:spPr>
          <a:xfrm>
            <a:off x="8060293" y="2901950"/>
            <a:ext cx="3418474"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2457F5"/>
                </a:solidFill>
                <a:latin typeface="Inter" pitchFamily="34" charset="0"/>
                <a:ea typeface="Inter" pitchFamily="34" charset="-122"/>
                <a:cs typeface="Inter" pitchFamily="34" charset="-120"/>
              </a:rPr>
              <a:t>88%</a:t>
            </a:r>
            <a:endParaRPr lang="en-US" sz="6000" dirty="0"/>
          </a:p>
        </p:txBody>
      </p:sp>
      <p:sp>
        <p:nvSpPr>
          <p:cNvPr id="12" name="Text 10"/>
          <p:cNvSpPr/>
          <p:nvPr/>
        </p:nvSpPr>
        <p:spPr>
          <a:xfrm>
            <a:off x="8060293" y="3765550"/>
            <a:ext cx="341847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of all reviews come from six products</a:t>
            </a:r>
            <a:endParaRPr lang="en-US" sz="1600" dirty="0"/>
          </a:p>
        </p:txBody>
      </p:sp>
      <p:sp>
        <p:nvSpPr>
          <p:cNvPr id="13" name="Shape 11"/>
          <p:cNvSpPr/>
          <p:nvPr/>
        </p:nvSpPr>
        <p:spPr>
          <a:xfrm>
            <a:off x="812800" y="5400041"/>
            <a:ext cx="9264888" cy="152400"/>
          </a:xfrm>
          <a:prstGeom prst="rect">
            <a:avLst/>
          </a:prstGeom>
          <a:solidFill>
            <a:srgbClr val="2457F5"/>
          </a:solidFill>
          <a:ln/>
        </p:spPr>
      </p:sp>
      <p:sp>
        <p:nvSpPr>
          <p:cNvPr id="14" name="Shape 12"/>
          <p:cNvSpPr/>
          <p:nvPr/>
        </p:nvSpPr>
        <p:spPr>
          <a:xfrm>
            <a:off x="10115788" y="5400041"/>
            <a:ext cx="1263412" cy="152400"/>
          </a:xfrm>
          <a:prstGeom prst="rect">
            <a:avLst/>
          </a:prstGeom>
          <a:solidFill>
            <a:srgbClr val="D9DBDD"/>
          </a:solidFill>
          <a:ln/>
        </p:spPr>
      </p:sp>
      <p:sp>
        <p:nvSpPr>
          <p:cNvPr id="15" name="Text 13"/>
          <p:cNvSpPr/>
          <p:nvPr/>
        </p:nvSpPr>
        <p:spPr>
          <a:xfrm>
            <a:off x="812800" y="5628641"/>
            <a:ext cx="25351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Six products: 88% of reviews</a:t>
            </a:r>
            <a:endParaRPr lang="en-US" sz="1200" dirty="0"/>
          </a:p>
        </p:txBody>
      </p:sp>
      <p:sp>
        <p:nvSpPr>
          <p:cNvPr id="16" name="Text 14"/>
          <p:cNvSpPr/>
          <p:nvPr/>
        </p:nvSpPr>
        <p:spPr>
          <a:xfrm>
            <a:off x="9767666" y="5628641"/>
            <a:ext cx="1611535"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78"/>
                </a:solidFill>
                <a:latin typeface="Inter" pitchFamily="34" charset="0"/>
                <a:ea typeface="Inter" pitchFamily="34" charset="-122"/>
                <a:cs typeface="Inter" pitchFamily="34" charset="-120"/>
              </a:rPr>
              <a:t>All the others: 12%</a:t>
            </a:r>
            <a:endParaRPr lang="en-US" sz="1200" dirty="0"/>
          </a:p>
        </p:txBody>
      </p:sp>
      <p:sp>
        <p:nvSpPr>
          <p:cNvPr id="17" name="Text 15"/>
          <p:cNvSpPr/>
          <p:nvPr/>
        </p:nvSpPr>
        <p:spPr>
          <a:xfrm>
            <a:off x="812800" y="6238241"/>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The data · Datafiniti Consumer Reviews of Amazon Products (1429_1.csv)</a:t>
            </a:r>
            <a:endParaRPr lang="en-US" sz="1200" dirty="0"/>
          </a:p>
        </p:txBody>
      </p:sp>
      <p:sp>
        <p:nvSpPr>
          <p:cNvPr id="18" name="Text 16"/>
          <p:cNvSpPr/>
          <p:nvPr/>
        </p:nvSpPr>
        <p:spPr>
          <a:xfrm>
            <a:off x="9417050" y="6238241"/>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78"/>
                </a:solidFill>
                <a:latin typeface="Inter" pitchFamily="34" charset="0"/>
                <a:ea typeface="Inter" pitchFamily="34" charset="-122"/>
                <a:cs typeface="Inte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7F5"/>
                </a:solidFill>
                <a:latin typeface="Inter" pitchFamily="34" charset="0"/>
                <a:ea typeface="Inter" pitchFamily="34" charset="-122"/>
                <a:cs typeface="Inter" pitchFamily="34" charset="-120"/>
              </a:rPr>
              <a:t>THE DATA</a:t>
            </a:r>
            <a:endParaRPr lang="en-US" sz="1200" dirty="0"/>
          </a:p>
        </p:txBody>
      </p:sp>
      <p:sp>
        <p:nvSpPr>
          <p:cNvPr id="3" name="Text 1"/>
          <p:cNvSpPr/>
          <p:nvPr>
            <p:ph type="title"/>
          </p:nvPr>
        </p:nvSpPr>
        <p:spPr>
          <a:xfrm>
            <a:off x="812800" y="1127761"/>
            <a:ext cx="10883392" cy="50546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01418"/>
                </a:solidFill>
                <a:latin typeface="Inter" pitchFamily="34" charset="0"/>
                <a:ea typeface="Inter" pitchFamily="34" charset="-122"/>
                <a:cs typeface="Inter" pitchFamily="34" charset="-120"/>
              </a:rPr>
              <a:t>93% of reviews are positive</a:t>
            </a:r>
            <a:endParaRPr lang="en-US" sz="3600" dirty="0"/>
          </a:p>
        </p:txBody>
      </p:sp>
      <p:sp>
        <p:nvSpPr>
          <p:cNvPr id="4" name="Text 2"/>
          <p:cNvSpPr/>
          <p:nvPr/>
        </p:nvSpPr>
        <p:spPr>
          <a:xfrm>
            <a:off x="812800" y="1861820"/>
            <a:ext cx="8763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5 stars</a:t>
            </a:r>
            <a:endParaRPr lang="en-US" sz="1600" dirty="0"/>
          </a:p>
        </p:txBody>
      </p:sp>
      <p:sp>
        <p:nvSpPr>
          <p:cNvPr id="5" name="Shape 3"/>
          <p:cNvSpPr/>
          <p:nvPr/>
        </p:nvSpPr>
        <p:spPr>
          <a:xfrm>
            <a:off x="1790700" y="1877061"/>
            <a:ext cx="3556000" cy="254000"/>
          </a:xfrm>
          <a:prstGeom prst="rect">
            <a:avLst/>
          </a:prstGeom>
          <a:solidFill>
            <a:srgbClr val="2457F5"/>
          </a:solidFill>
          <a:ln/>
        </p:spPr>
      </p:sp>
      <p:sp>
        <p:nvSpPr>
          <p:cNvPr id="6" name="Text 4"/>
          <p:cNvSpPr/>
          <p:nvPr/>
        </p:nvSpPr>
        <p:spPr>
          <a:xfrm>
            <a:off x="5499100" y="1861820"/>
            <a:ext cx="78562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23,755</a:t>
            </a:r>
            <a:endParaRPr lang="en-US" sz="1600" dirty="0"/>
          </a:p>
        </p:txBody>
      </p:sp>
      <p:sp>
        <p:nvSpPr>
          <p:cNvPr id="7" name="Text 5"/>
          <p:cNvSpPr/>
          <p:nvPr/>
        </p:nvSpPr>
        <p:spPr>
          <a:xfrm>
            <a:off x="812800" y="2298700"/>
            <a:ext cx="8763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4 stars</a:t>
            </a:r>
            <a:endParaRPr lang="en-US" sz="1600" dirty="0"/>
          </a:p>
        </p:txBody>
      </p:sp>
      <p:sp>
        <p:nvSpPr>
          <p:cNvPr id="8" name="Shape 6"/>
          <p:cNvSpPr/>
          <p:nvPr/>
        </p:nvSpPr>
        <p:spPr>
          <a:xfrm>
            <a:off x="1790700" y="2313941"/>
            <a:ext cx="1276350" cy="254000"/>
          </a:xfrm>
          <a:prstGeom prst="rect">
            <a:avLst/>
          </a:prstGeom>
          <a:solidFill>
            <a:srgbClr val="2457F5"/>
          </a:solidFill>
          <a:ln/>
        </p:spPr>
      </p:sp>
      <p:sp>
        <p:nvSpPr>
          <p:cNvPr id="9" name="Text 7"/>
          <p:cNvSpPr/>
          <p:nvPr/>
        </p:nvSpPr>
        <p:spPr>
          <a:xfrm>
            <a:off x="3219450" y="2298700"/>
            <a:ext cx="65808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8,533</a:t>
            </a:r>
            <a:endParaRPr lang="en-US" sz="1600" dirty="0"/>
          </a:p>
        </p:txBody>
      </p:sp>
      <p:sp>
        <p:nvSpPr>
          <p:cNvPr id="10" name="Text 8"/>
          <p:cNvSpPr/>
          <p:nvPr/>
        </p:nvSpPr>
        <p:spPr>
          <a:xfrm>
            <a:off x="812800" y="2735580"/>
            <a:ext cx="8763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3 stars</a:t>
            </a:r>
            <a:endParaRPr lang="en-US" sz="1600" dirty="0"/>
          </a:p>
        </p:txBody>
      </p:sp>
      <p:sp>
        <p:nvSpPr>
          <p:cNvPr id="11" name="Shape 9"/>
          <p:cNvSpPr/>
          <p:nvPr/>
        </p:nvSpPr>
        <p:spPr>
          <a:xfrm>
            <a:off x="1790700" y="2750820"/>
            <a:ext cx="222250" cy="254000"/>
          </a:xfrm>
          <a:prstGeom prst="rect">
            <a:avLst/>
          </a:prstGeom>
          <a:solidFill>
            <a:srgbClr val="9AA0A6"/>
          </a:solidFill>
          <a:ln/>
        </p:spPr>
      </p:sp>
      <p:sp>
        <p:nvSpPr>
          <p:cNvPr id="12" name="Text 10"/>
          <p:cNvSpPr/>
          <p:nvPr/>
        </p:nvSpPr>
        <p:spPr>
          <a:xfrm>
            <a:off x="2165350" y="2735580"/>
            <a:ext cx="62941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1,499</a:t>
            </a:r>
            <a:endParaRPr lang="en-US" sz="1600" dirty="0"/>
          </a:p>
        </p:txBody>
      </p:sp>
      <p:sp>
        <p:nvSpPr>
          <p:cNvPr id="13" name="Text 11"/>
          <p:cNvSpPr/>
          <p:nvPr/>
        </p:nvSpPr>
        <p:spPr>
          <a:xfrm>
            <a:off x="812800" y="3172461"/>
            <a:ext cx="8763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2 stars</a:t>
            </a:r>
            <a:endParaRPr lang="en-US" sz="1600" dirty="0"/>
          </a:p>
        </p:txBody>
      </p:sp>
      <p:sp>
        <p:nvSpPr>
          <p:cNvPr id="14" name="Shape 12"/>
          <p:cNvSpPr/>
          <p:nvPr/>
        </p:nvSpPr>
        <p:spPr>
          <a:xfrm>
            <a:off x="1790700" y="3187700"/>
            <a:ext cx="57150" cy="254000"/>
          </a:xfrm>
          <a:prstGeom prst="rect">
            <a:avLst/>
          </a:prstGeom>
          <a:solidFill>
            <a:srgbClr val="E8731A"/>
          </a:solidFill>
          <a:ln/>
        </p:spPr>
      </p:sp>
      <p:sp>
        <p:nvSpPr>
          <p:cNvPr id="15" name="Text 13"/>
          <p:cNvSpPr/>
          <p:nvPr/>
        </p:nvSpPr>
        <p:spPr>
          <a:xfrm>
            <a:off x="2000250" y="3172461"/>
            <a:ext cx="465201"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400</a:t>
            </a:r>
            <a:endParaRPr lang="en-US" sz="1600" dirty="0"/>
          </a:p>
        </p:txBody>
      </p:sp>
      <p:sp>
        <p:nvSpPr>
          <p:cNvPr id="16" name="Text 14"/>
          <p:cNvSpPr/>
          <p:nvPr/>
        </p:nvSpPr>
        <p:spPr>
          <a:xfrm>
            <a:off x="812800" y="3609341"/>
            <a:ext cx="8763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1 star</a:t>
            </a:r>
            <a:endParaRPr lang="en-US" sz="1600" dirty="0"/>
          </a:p>
        </p:txBody>
      </p:sp>
      <p:sp>
        <p:nvSpPr>
          <p:cNvPr id="17" name="Shape 15"/>
          <p:cNvSpPr/>
          <p:nvPr/>
        </p:nvSpPr>
        <p:spPr>
          <a:xfrm>
            <a:off x="1790700" y="3624580"/>
            <a:ext cx="63500" cy="254000"/>
          </a:xfrm>
          <a:prstGeom prst="rect">
            <a:avLst/>
          </a:prstGeom>
          <a:solidFill>
            <a:srgbClr val="E8731A"/>
          </a:solidFill>
          <a:ln/>
        </p:spPr>
      </p:sp>
      <p:sp>
        <p:nvSpPr>
          <p:cNvPr id="18" name="Text 16"/>
          <p:cNvSpPr/>
          <p:nvPr/>
        </p:nvSpPr>
        <p:spPr>
          <a:xfrm>
            <a:off x="2006600" y="3609341"/>
            <a:ext cx="405765"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410</a:t>
            </a:r>
            <a:endParaRPr lang="en-US" sz="1600" dirty="0"/>
          </a:p>
        </p:txBody>
      </p:sp>
      <p:sp>
        <p:nvSpPr>
          <p:cNvPr id="19" name="Shape 17"/>
          <p:cNvSpPr/>
          <p:nvPr/>
        </p:nvSpPr>
        <p:spPr>
          <a:xfrm>
            <a:off x="8331200" y="2100580"/>
            <a:ext cx="177800" cy="177800"/>
          </a:xfrm>
          <a:prstGeom prst="roundRect">
            <a:avLst>
              <a:gd name="adj" fmla="val 50000"/>
            </a:avLst>
          </a:prstGeom>
          <a:solidFill>
            <a:srgbClr val="E8731A"/>
          </a:solidFill>
          <a:ln/>
        </p:spPr>
      </p:sp>
      <p:sp>
        <p:nvSpPr>
          <p:cNvPr id="20" name="Text 18"/>
          <p:cNvSpPr/>
          <p:nvPr/>
        </p:nvSpPr>
        <p:spPr>
          <a:xfrm>
            <a:off x="8636000" y="1934211"/>
            <a:ext cx="1842897"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01418"/>
                </a:solidFill>
                <a:latin typeface="Inter" pitchFamily="34" charset="0"/>
                <a:ea typeface="Inter" pitchFamily="34" charset="-122"/>
                <a:cs typeface="Inter" pitchFamily="34" charset="-120"/>
              </a:rPr>
              <a:t>Negative: 2.3%</a:t>
            </a:r>
            <a:endParaRPr lang="en-US" sz="1600" dirty="0"/>
          </a:p>
        </p:txBody>
      </p:sp>
      <p:sp>
        <p:nvSpPr>
          <p:cNvPr id="21" name="Text 19"/>
          <p:cNvSpPr/>
          <p:nvPr/>
        </p:nvSpPr>
        <p:spPr>
          <a:xfrm>
            <a:off x="8636000" y="2231391"/>
            <a:ext cx="15865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1 and 2 stars</a:t>
            </a:r>
            <a:endParaRPr lang="en-US" sz="1200" dirty="0"/>
          </a:p>
        </p:txBody>
      </p:sp>
      <p:sp>
        <p:nvSpPr>
          <p:cNvPr id="22" name="Shape 20"/>
          <p:cNvSpPr/>
          <p:nvPr/>
        </p:nvSpPr>
        <p:spPr>
          <a:xfrm>
            <a:off x="8331200" y="2788920"/>
            <a:ext cx="177800" cy="177800"/>
          </a:xfrm>
          <a:prstGeom prst="roundRect">
            <a:avLst>
              <a:gd name="adj" fmla="val 50000"/>
            </a:avLst>
          </a:prstGeom>
          <a:solidFill>
            <a:srgbClr val="9AA0A6"/>
          </a:solidFill>
          <a:ln/>
        </p:spPr>
      </p:sp>
      <p:sp>
        <p:nvSpPr>
          <p:cNvPr id="23" name="Text 21"/>
          <p:cNvSpPr/>
          <p:nvPr/>
        </p:nvSpPr>
        <p:spPr>
          <a:xfrm>
            <a:off x="8636000" y="2622550"/>
            <a:ext cx="165268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01418"/>
                </a:solidFill>
                <a:latin typeface="Inter" pitchFamily="34" charset="0"/>
                <a:ea typeface="Inter" pitchFamily="34" charset="-122"/>
                <a:cs typeface="Inter" pitchFamily="34" charset="-120"/>
              </a:rPr>
              <a:t>Neutral: 4.3%</a:t>
            </a:r>
            <a:endParaRPr lang="en-US" sz="1600" dirty="0"/>
          </a:p>
        </p:txBody>
      </p:sp>
      <p:sp>
        <p:nvSpPr>
          <p:cNvPr id="24" name="Text 22"/>
          <p:cNvSpPr/>
          <p:nvPr/>
        </p:nvSpPr>
        <p:spPr>
          <a:xfrm>
            <a:off x="8636000" y="2919730"/>
            <a:ext cx="14280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3 stars</a:t>
            </a:r>
            <a:endParaRPr lang="en-US" sz="1200" dirty="0"/>
          </a:p>
        </p:txBody>
      </p:sp>
      <p:sp>
        <p:nvSpPr>
          <p:cNvPr id="25" name="Shape 23"/>
          <p:cNvSpPr/>
          <p:nvPr/>
        </p:nvSpPr>
        <p:spPr>
          <a:xfrm>
            <a:off x="8331200" y="3477261"/>
            <a:ext cx="177800" cy="177800"/>
          </a:xfrm>
          <a:prstGeom prst="roundRect">
            <a:avLst>
              <a:gd name="adj" fmla="val 50000"/>
            </a:avLst>
          </a:prstGeom>
          <a:solidFill>
            <a:srgbClr val="2457F5"/>
          </a:solidFill>
          <a:ln/>
        </p:spPr>
      </p:sp>
      <p:sp>
        <p:nvSpPr>
          <p:cNvPr id="26" name="Text 24"/>
          <p:cNvSpPr/>
          <p:nvPr/>
        </p:nvSpPr>
        <p:spPr>
          <a:xfrm>
            <a:off x="8636000" y="3310891"/>
            <a:ext cx="188137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01418"/>
                </a:solidFill>
                <a:latin typeface="Inter" pitchFamily="34" charset="0"/>
                <a:ea typeface="Inter" pitchFamily="34" charset="-122"/>
                <a:cs typeface="Inter" pitchFamily="34" charset="-120"/>
              </a:rPr>
              <a:t>Positive: 93.3%</a:t>
            </a:r>
            <a:endParaRPr lang="en-US" sz="1600" dirty="0"/>
          </a:p>
        </p:txBody>
      </p:sp>
      <p:sp>
        <p:nvSpPr>
          <p:cNvPr id="27" name="Text 25"/>
          <p:cNvSpPr/>
          <p:nvPr/>
        </p:nvSpPr>
        <p:spPr>
          <a:xfrm>
            <a:off x="8636000" y="3608070"/>
            <a:ext cx="16186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4 and 5 stars</a:t>
            </a:r>
            <a:endParaRPr lang="en-US" sz="1200" dirty="0"/>
          </a:p>
        </p:txBody>
      </p:sp>
      <p:sp>
        <p:nvSpPr>
          <p:cNvPr id="28" name="Shape 26"/>
          <p:cNvSpPr/>
          <p:nvPr/>
        </p:nvSpPr>
        <p:spPr>
          <a:xfrm>
            <a:off x="831850" y="4147820"/>
            <a:ext cx="0" cy="619760"/>
          </a:xfrm>
          <a:prstGeom prst="line">
            <a:avLst/>
          </a:prstGeom>
          <a:noFill/>
          <a:ln w="38100">
            <a:solidFill>
              <a:srgbClr val="2457F5"/>
            </a:solidFill>
            <a:prstDash val="solid"/>
          </a:ln>
        </p:spPr>
      </p:sp>
      <p:sp>
        <p:nvSpPr>
          <p:cNvPr id="29" name="Text 27"/>
          <p:cNvSpPr/>
          <p:nvPr/>
        </p:nvSpPr>
        <p:spPr>
          <a:xfrm>
            <a:off x="1051560" y="4173220"/>
            <a:ext cx="1063746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A model that always answers positive scores 93.3% accuracy but a macro-F1 of only 0.32. Macro-F1, which counts each class equally, is our headline metric.</a:t>
            </a:r>
            <a:endParaRPr lang="en-US" sz="1600" dirty="0"/>
          </a:p>
        </p:txBody>
      </p:sp>
      <p:sp>
        <p:nvSpPr>
          <p:cNvPr id="30" name="Text 28"/>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The data · Star ratings mapped to three sentiment classes</a:t>
            </a:r>
            <a:endParaRPr lang="en-US" sz="1200" dirty="0"/>
          </a:p>
        </p:txBody>
      </p:sp>
      <p:sp>
        <p:nvSpPr>
          <p:cNvPr id="31" name="Text 29"/>
          <p:cNvSpPr/>
          <p:nvPr/>
        </p:nvSpPr>
        <p:spPr>
          <a:xfrm>
            <a:off x="9417050" y="6238239"/>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78"/>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7F5"/>
                </a:solidFill>
                <a:latin typeface="Inter" pitchFamily="34" charset="0"/>
                <a:ea typeface="Inter" pitchFamily="34" charset="-122"/>
                <a:cs typeface="Inter" pitchFamily="34" charset="-120"/>
              </a:rPr>
              <a:t>THE DATA</a:t>
            </a:r>
            <a:endParaRPr lang="en-US" sz="1200" dirty="0"/>
          </a:p>
        </p:txBody>
      </p:sp>
      <p:sp>
        <p:nvSpPr>
          <p:cNvPr id="3" name="Text 1"/>
          <p:cNvSpPr/>
          <p:nvPr>
            <p:ph type="title"/>
          </p:nvPr>
        </p:nvSpPr>
        <p:spPr>
          <a:xfrm>
            <a:off x="812800" y="1127761"/>
            <a:ext cx="10883392" cy="50546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01418"/>
                </a:solidFill>
                <a:latin typeface="Inter" pitchFamily="34" charset="0"/>
                <a:ea typeface="Inter" pitchFamily="34" charset="-122"/>
                <a:cs typeface="Inter" pitchFamily="34" charset="-120"/>
              </a:rPr>
              <a:t>Cleaning removed 63 reviews</a:t>
            </a:r>
            <a:endParaRPr lang="en-US" sz="3600" dirty="0"/>
          </a:p>
        </p:txBody>
      </p:sp>
      <p:sp>
        <p:nvSpPr>
          <p:cNvPr id="4" name="Shape 2"/>
          <p:cNvSpPr/>
          <p:nvPr/>
        </p:nvSpPr>
        <p:spPr>
          <a:xfrm>
            <a:off x="812800" y="2739389"/>
            <a:ext cx="3318907" cy="0"/>
          </a:xfrm>
          <a:prstGeom prst="line">
            <a:avLst/>
          </a:prstGeom>
          <a:noFill/>
          <a:ln w="25400">
            <a:solidFill>
              <a:srgbClr val="E8731A"/>
            </a:solidFill>
            <a:prstDash val="solid"/>
          </a:ln>
        </p:spPr>
      </p:sp>
      <p:sp>
        <p:nvSpPr>
          <p:cNvPr id="5" name="Text 3"/>
          <p:cNvSpPr/>
          <p:nvPr/>
        </p:nvSpPr>
        <p:spPr>
          <a:xfrm>
            <a:off x="812800" y="2955289"/>
            <a:ext cx="3418474"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B3560B"/>
                </a:solidFill>
                <a:latin typeface="Inter" pitchFamily="34" charset="0"/>
                <a:ea typeface="Inter" pitchFamily="34" charset="-122"/>
                <a:cs typeface="Inter" pitchFamily="34" charset="-120"/>
              </a:rPr>
              <a:t>34</a:t>
            </a:r>
            <a:endParaRPr lang="en-US" sz="6000" dirty="0"/>
          </a:p>
        </p:txBody>
      </p:sp>
      <p:sp>
        <p:nvSpPr>
          <p:cNvPr id="6" name="Text 4"/>
          <p:cNvSpPr/>
          <p:nvPr/>
        </p:nvSpPr>
        <p:spPr>
          <a:xfrm>
            <a:off x="812800" y="3818889"/>
            <a:ext cx="341847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missing or invalid rating or text</a:t>
            </a:r>
            <a:endParaRPr lang="en-US" sz="1600" dirty="0"/>
          </a:p>
        </p:txBody>
      </p:sp>
      <p:sp>
        <p:nvSpPr>
          <p:cNvPr id="7" name="Shape 5"/>
          <p:cNvSpPr/>
          <p:nvPr/>
        </p:nvSpPr>
        <p:spPr>
          <a:xfrm>
            <a:off x="4436507" y="2739389"/>
            <a:ext cx="3318986" cy="0"/>
          </a:xfrm>
          <a:prstGeom prst="line">
            <a:avLst/>
          </a:prstGeom>
          <a:noFill/>
          <a:ln w="25400">
            <a:solidFill>
              <a:srgbClr val="E8731A"/>
            </a:solidFill>
            <a:prstDash val="solid"/>
          </a:ln>
        </p:spPr>
      </p:sp>
      <p:sp>
        <p:nvSpPr>
          <p:cNvPr id="8" name="Text 6"/>
          <p:cNvSpPr/>
          <p:nvPr/>
        </p:nvSpPr>
        <p:spPr>
          <a:xfrm>
            <a:off x="4436507" y="2955289"/>
            <a:ext cx="3418556"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B3560B"/>
                </a:solidFill>
                <a:latin typeface="Inter" pitchFamily="34" charset="0"/>
                <a:ea typeface="Inter" pitchFamily="34" charset="-122"/>
                <a:cs typeface="Inter" pitchFamily="34" charset="-120"/>
              </a:rPr>
              <a:t>12</a:t>
            </a:r>
            <a:endParaRPr lang="en-US" sz="6000" dirty="0"/>
          </a:p>
        </p:txBody>
      </p:sp>
      <p:sp>
        <p:nvSpPr>
          <p:cNvPr id="9" name="Text 7"/>
          <p:cNvSpPr/>
          <p:nvPr/>
        </p:nvSpPr>
        <p:spPr>
          <a:xfrm>
            <a:off x="4436507" y="3818889"/>
            <a:ext cx="341855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reviews with fewer than 3 words</a:t>
            </a:r>
            <a:endParaRPr lang="en-US" sz="1600" dirty="0"/>
          </a:p>
        </p:txBody>
      </p:sp>
      <p:sp>
        <p:nvSpPr>
          <p:cNvPr id="10" name="Shape 8"/>
          <p:cNvSpPr/>
          <p:nvPr/>
        </p:nvSpPr>
        <p:spPr>
          <a:xfrm>
            <a:off x="8060293" y="2739389"/>
            <a:ext cx="3318907" cy="0"/>
          </a:xfrm>
          <a:prstGeom prst="line">
            <a:avLst/>
          </a:prstGeom>
          <a:noFill/>
          <a:ln w="25400">
            <a:solidFill>
              <a:srgbClr val="E8731A"/>
            </a:solidFill>
            <a:prstDash val="solid"/>
          </a:ln>
        </p:spPr>
      </p:sp>
      <p:sp>
        <p:nvSpPr>
          <p:cNvPr id="11" name="Text 9"/>
          <p:cNvSpPr/>
          <p:nvPr/>
        </p:nvSpPr>
        <p:spPr>
          <a:xfrm>
            <a:off x="8060293" y="2955289"/>
            <a:ext cx="3418474"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B3560B"/>
                </a:solidFill>
                <a:latin typeface="Inter" pitchFamily="34" charset="0"/>
                <a:ea typeface="Inter" pitchFamily="34" charset="-122"/>
                <a:cs typeface="Inter" pitchFamily="34" charset="-120"/>
              </a:rPr>
              <a:t>17</a:t>
            </a:r>
            <a:endParaRPr lang="en-US" sz="6000" dirty="0"/>
          </a:p>
        </p:txBody>
      </p:sp>
      <p:sp>
        <p:nvSpPr>
          <p:cNvPr id="12" name="Text 10"/>
          <p:cNvSpPr/>
          <p:nvPr/>
        </p:nvSpPr>
        <p:spPr>
          <a:xfrm>
            <a:off x="8060293" y="3818889"/>
            <a:ext cx="341847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exact duplicate review texts</a:t>
            </a:r>
            <a:endParaRPr lang="en-US" sz="1600" dirty="0"/>
          </a:p>
        </p:txBody>
      </p:sp>
      <p:sp>
        <p:nvSpPr>
          <p:cNvPr id="13" name="Shape 11"/>
          <p:cNvSpPr/>
          <p:nvPr/>
        </p:nvSpPr>
        <p:spPr>
          <a:xfrm>
            <a:off x="831850" y="5222239"/>
            <a:ext cx="0" cy="619760"/>
          </a:xfrm>
          <a:prstGeom prst="line">
            <a:avLst/>
          </a:prstGeom>
          <a:noFill/>
          <a:ln w="38100">
            <a:solidFill>
              <a:srgbClr val="2457F5"/>
            </a:solidFill>
            <a:prstDash val="solid"/>
          </a:ln>
        </p:spPr>
      </p:sp>
      <p:sp>
        <p:nvSpPr>
          <p:cNvPr id="14" name="Text 12"/>
          <p:cNvSpPr/>
          <p:nvPr/>
        </p:nvSpPr>
        <p:spPr>
          <a:xfrm>
            <a:off x="1051560" y="5247639"/>
            <a:ext cx="1063746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Text cleaning stayed light: HTML tags, URLs and extra spaces only. Case and punctuation stay, because RoBERTa reads them as sentiment signal.</a:t>
            </a:r>
            <a:endParaRPr lang="en-US" sz="1600" dirty="0"/>
          </a:p>
        </p:txBody>
      </p:sp>
      <p:sp>
        <p:nvSpPr>
          <p:cNvPr id="15" name="Text 13"/>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The data · Cleaning</a:t>
            </a:r>
            <a:endParaRPr lang="en-US" sz="1200" dirty="0"/>
          </a:p>
        </p:txBody>
      </p:sp>
      <p:sp>
        <p:nvSpPr>
          <p:cNvPr id="16" name="Text 14"/>
          <p:cNvSpPr/>
          <p:nvPr/>
        </p:nvSpPr>
        <p:spPr>
          <a:xfrm>
            <a:off x="9417050" y="6238239"/>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78"/>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7F5"/>
                </a:solidFill>
                <a:latin typeface="Inter" pitchFamily="34" charset="0"/>
                <a:ea typeface="Inter" pitchFamily="34" charset="-122"/>
                <a:cs typeface="Inter" pitchFamily="34" charset="-120"/>
              </a:rPr>
              <a:t>TASK 1 · SENTIMENT MODEL</a:t>
            </a:r>
            <a:endParaRPr lang="en-US" sz="1200" dirty="0"/>
          </a:p>
        </p:txBody>
      </p:sp>
      <p:sp>
        <p:nvSpPr>
          <p:cNvPr id="3" name="Text 1"/>
          <p:cNvSpPr/>
          <p:nvPr>
            <p:ph type="title"/>
          </p:nvPr>
        </p:nvSpPr>
        <p:spPr>
          <a:xfrm>
            <a:off x="812800" y="1127761"/>
            <a:ext cx="10883392" cy="50546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01418"/>
                </a:solidFill>
                <a:latin typeface="Inter" pitchFamily="34" charset="0"/>
                <a:ea typeface="Inter" pitchFamily="34" charset="-122"/>
                <a:cs typeface="Inter" pitchFamily="34" charset="-120"/>
              </a:rPr>
              <a:t>Two models, one fair comparison</a:t>
            </a:r>
            <a:endParaRPr lang="en-US" sz="3600" dirty="0"/>
          </a:p>
        </p:txBody>
      </p:sp>
      <p:sp>
        <p:nvSpPr>
          <p:cNvPr id="4" name="Shape 2"/>
          <p:cNvSpPr/>
          <p:nvPr/>
        </p:nvSpPr>
        <p:spPr>
          <a:xfrm>
            <a:off x="812800" y="2526032"/>
            <a:ext cx="5130800" cy="0"/>
          </a:xfrm>
          <a:prstGeom prst="line">
            <a:avLst/>
          </a:prstGeom>
          <a:noFill/>
          <a:ln w="25400">
            <a:solidFill>
              <a:srgbClr val="9AA0A6"/>
            </a:solidFill>
            <a:prstDash val="solid"/>
          </a:ln>
        </p:spPr>
      </p:sp>
      <p:sp>
        <p:nvSpPr>
          <p:cNvPr id="5" name="Text 3"/>
          <p:cNvSpPr/>
          <p:nvPr/>
        </p:nvSpPr>
        <p:spPr>
          <a:xfrm>
            <a:off x="812800" y="2741932"/>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178"/>
                </a:solidFill>
                <a:latin typeface="Inter" pitchFamily="34" charset="0"/>
                <a:ea typeface="Inter" pitchFamily="34" charset="-122"/>
                <a:cs typeface="Inter" pitchFamily="34" charset="-120"/>
              </a:rPr>
              <a:t>BASELINE</a:t>
            </a:r>
            <a:endParaRPr lang="en-US" sz="1200" dirty="0"/>
          </a:p>
        </p:txBody>
      </p:sp>
      <p:sp>
        <p:nvSpPr>
          <p:cNvPr id="6" name="Text 4"/>
          <p:cNvSpPr/>
          <p:nvPr/>
        </p:nvSpPr>
        <p:spPr>
          <a:xfrm>
            <a:off x="812800" y="3082289"/>
            <a:ext cx="52847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1418"/>
                </a:solidFill>
                <a:latin typeface="Inter" pitchFamily="34" charset="0"/>
                <a:ea typeface="Inter" pitchFamily="34" charset="-122"/>
                <a:cs typeface="Inter" pitchFamily="34" charset="-120"/>
              </a:rPr>
              <a:t>TF-IDF + logistic regression</a:t>
            </a:r>
            <a:endParaRPr lang="en-US" sz="2200" dirty="0"/>
          </a:p>
        </p:txBody>
      </p:sp>
      <p:sp>
        <p:nvSpPr>
          <p:cNvPr id="7" name="Text 5"/>
          <p:cNvSpPr/>
          <p:nvPr/>
        </p:nvSpPr>
        <p:spPr>
          <a:xfrm>
            <a:off x="812800" y="3544571"/>
            <a:ext cx="528472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Words and word pairs as features</a:t>
            </a:r>
            <a:endParaRPr lang="en-US" sz="1600" dirty="0"/>
          </a:p>
        </p:txBody>
      </p:sp>
      <p:sp>
        <p:nvSpPr>
          <p:cNvPr id="8" name="Text 6"/>
          <p:cNvSpPr/>
          <p:nvPr/>
        </p:nvSpPr>
        <p:spPr>
          <a:xfrm>
            <a:off x="812800" y="3956050"/>
            <a:ext cx="528472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Class weights for the rare classes</a:t>
            </a:r>
            <a:endParaRPr lang="en-US" sz="1600" dirty="0"/>
          </a:p>
        </p:txBody>
      </p:sp>
      <p:sp>
        <p:nvSpPr>
          <p:cNvPr id="9" name="Text 7"/>
          <p:cNvSpPr/>
          <p:nvPr/>
        </p:nvSpPr>
        <p:spPr>
          <a:xfrm>
            <a:off x="812800" y="4367532"/>
            <a:ext cx="528472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Trains in seconds on a CPU</a:t>
            </a:r>
            <a:endParaRPr lang="en-US" sz="1600" dirty="0"/>
          </a:p>
        </p:txBody>
      </p:sp>
      <p:sp>
        <p:nvSpPr>
          <p:cNvPr id="10" name="Shape 8"/>
          <p:cNvSpPr/>
          <p:nvPr/>
        </p:nvSpPr>
        <p:spPr>
          <a:xfrm>
            <a:off x="6248400" y="2526032"/>
            <a:ext cx="5130800" cy="0"/>
          </a:xfrm>
          <a:prstGeom prst="line">
            <a:avLst/>
          </a:prstGeom>
          <a:noFill/>
          <a:ln w="25400">
            <a:solidFill>
              <a:srgbClr val="2457F5"/>
            </a:solidFill>
            <a:prstDash val="solid"/>
          </a:ln>
        </p:spPr>
      </p:sp>
      <p:sp>
        <p:nvSpPr>
          <p:cNvPr id="11" name="Text 9"/>
          <p:cNvSpPr/>
          <p:nvPr/>
        </p:nvSpPr>
        <p:spPr>
          <a:xfrm>
            <a:off x="6248400" y="2741932"/>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7F5"/>
                </a:solidFill>
                <a:latin typeface="Inter" pitchFamily="34" charset="0"/>
                <a:ea typeface="Inter" pitchFamily="34" charset="-122"/>
                <a:cs typeface="Inter" pitchFamily="34" charset="-120"/>
              </a:rPr>
              <a:t>TRANSFORMER</a:t>
            </a:r>
            <a:endParaRPr lang="en-US" sz="1200" dirty="0"/>
          </a:p>
        </p:txBody>
      </p:sp>
      <p:sp>
        <p:nvSpPr>
          <p:cNvPr id="12" name="Text 10"/>
          <p:cNvSpPr/>
          <p:nvPr/>
        </p:nvSpPr>
        <p:spPr>
          <a:xfrm>
            <a:off x="6248400" y="3082289"/>
            <a:ext cx="52847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1418"/>
                </a:solidFill>
                <a:latin typeface="Inter" pitchFamily="34" charset="0"/>
                <a:ea typeface="Inter" pitchFamily="34" charset="-122"/>
                <a:cs typeface="Inter" pitchFamily="34" charset="-120"/>
              </a:rPr>
              <a:t>Fine-tuned roberta-base</a:t>
            </a:r>
            <a:endParaRPr lang="en-US" sz="2200" dirty="0"/>
          </a:p>
        </p:txBody>
      </p:sp>
      <p:sp>
        <p:nvSpPr>
          <p:cNvPr id="13" name="Text 11"/>
          <p:cNvSpPr/>
          <p:nvPr/>
        </p:nvSpPr>
        <p:spPr>
          <a:xfrm>
            <a:off x="6248400" y="3544571"/>
            <a:ext cx="528472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3 epochs at learning rate 2e-5</a:t>
            </a:r>
            <a:endParaRPr lang="en-US" sz="1600" dirty="0"/>
          </a:p>
        </p:txBody>
      </p:sp>
      <p:sp>
        <p:nvSpPr>
          <p:cNvPr id="14" name="Text 12"/>
          <p:cNvSpPr/>
          <p:nvPr/>
        </p:nvSpPr>
        <p:spPr>
          <a:xfrm>
            <a:off x="6248400" y="3956050"/>
            <a:ext cx="528472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Square-root class weights</a:t>
            </a:r>
            <a:endParaRPr lang="en-US" sz="1600" dirty="0"/>
          </a:p>
        </p:txBody>
      </p:sp>
      <p:sp>
        <p:nvSpPr>
          <p:cNvPr id="15" name="Text 13"/>
          <p:cNvSpPr/>
          <p:nvPr/>
        </p:nvSpPr>
        <p:spPr>
          <a:xfrm>
            <a:off x="6248400" y="4367532"/>
            <a:ext cx="528472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Best epoch by validation macro-F1</a:t>
            </a:r>
            <a:endParaRPr lang="en-US" sz="1600" dirty="0"/>
          </a:p>
        </p:txBody>
      </p:sp>
      <p:sp>
        <p:nvSpPr>
          <p:cNvPr id="16" name="Text 14"/>
          <p:cNvSpPr/>
          <p:nvPr/>
        </p:nvSpPr>
        <p:spPr>
          <a:xfrm>
            <a:off x="812800" y="555752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Same stratified 70/15/15 split, macro-F1 first, test set touched once.</a:t>
            </a:r>
            <a:endParaRPr lang="en-US" sz="1600" dirty="0"/>
          </a:p>
        </p:txBody>
      </p:sp>
      <p:sp>
        <p:nvSpPr>
          <p:cNvPr id="17" name="Text 15"/>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Task 1 · Sentiment model</a:t>
            </a:r>
            <a:endParaRPr lang="en-US" sz="1200" dirty="0"/>
          </a:p>
        </p:txBody>
      </p:sp>
      <p:sp>
        <p:nvSpPr>
          <p:cNvPr id="18" name="Text 16"/>
          <p:cNvSpPr/>
          <p:nvPr/>
        </p:nvSpPr>
        <p:spPr>
          <a:xfrm>
            <a:off x="9417050" y="6238239"/>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78"/>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7F5"/>
                </a:solidFill>
                <a:latin typeface="Inter" pitchFamily="34" charset="0"/>
                <a:ea typeface="Inter" pitchFamily="34" charset="-122"/>
                <a:cs typeface="Inter" pitchFamily="34" charset="-120"/>
              </a:rPr>
              <a:t>TASK 1 · SENTIMENT MODEL</a:t>
            </a:r>
            <a:endParaRPr lang="en-US" sz="1200" dirty="0"/>
          </a:p>
        </p:txBody>
      </p:sp>
      <p:sp>
        <p:nvSpPr>
          <p:cNvPr id="3" name="Text 1"/>
          <p:cNvSpPr/>
          <p:nvPr>
            <p:ph type="title"/>
          </p:nvPr>
        </p:nvSpPr>
        <p:spPr>
          <a:xfrm>
            <a:off x="812800" y="1127761"/>
            <a:ext cx="10883392" cy="50546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01418"/>
                </a:solidFill>
                <a:latin typeface="Inter" pitchFamily="34" charset="0"/>
                <a:ea typeface="Inter" pitchFamily="34" charset="-122"/>
                <a:cs typeface="Inter" pitchFamily="34" charset="-120"/>
              </a:rPr>
              <a:t>RoBERTa beats the baseline everywhere</a:t>
            </a:r>
            <a:endParaRPr lang="en-US" sz="3600" dirty="0"/>
          </a:p>
        </p:txBody>
      </p:sp>
      <p:sp>
        <p:nvSpPr>
          <p:cNvPr id="4" name="Shape 2"/>
          <p:cNvSpPr/>
          <p:nvPr/>
        </p:nvSpPr>
        <p:spPr>
          <a:xfrm>
            <a:off x="812800" y="1892300"/>
            <a:ext cx="152400" cy="152400"/>
          </a:xfrm>
          <a:prstGeom prst="rect">
            <a:avLst/>
          </a:prstGeom>
          <a:solidFill>
            <a:srgbClr val="9AA0A6"/>
          </a:solidFill>
          <a:ln/>
        </p:spPr>
      </p:sp>
      <p:sp>
        <p:nvSpPr>
          <p:cNvPr id="5" name="Text 3"/>
          <p:cNvSpPr/>
          <p:nvPr/>
        </p:nvSpPr>
        <p:spPr>
          <a:xfrm>
            <a:off x="1066800" y="1861821"/>
            <a:ext cx="21033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TF-IDF + logistic regression</a:t>
            </a:r>
            <a:endParaRPr lang="en-US" sz="1200" dirty="0"/>
          </a:p>
        </p:txBody>
      </p:sp>
      <p:sp>
        <p:nvSpPr>
          <p:cNvPr id="6" name="Shape 4"/>
          <p:cNvSpPr/>
          <p:nvPr/>
        </p:nvSpPr>
        <p:spPr>
          <a:xfrm>
            <a:off x="3170158" y="1892300"/>
            <a:ext cx="152400" cy="152400"/>
          </a:xfrm>
          <a:prstGeom prst="rect">
            <a:avLst/>
          </a:prstGeom>
          <a:solidFill>
            <a:srgbClr val="2457F5"/>
          </a:solidFill>
          <a:ln/>
        </p:spPr>
      </p:sp>
      <p:sp>
        <p:nvSpPr>
          <p:cNvPr id="7" name="Text 5"/>
          <p:cNvSpPr/>
          <p:nvPr/>
        </p:nvSpPr>
        <p:spPr>
          <a:xfrm>
            <a:off x="3424158" y="1861821"/>
            <a:ext cx="7793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RoBERTa</a:t>
            </a:r>
            <a:endParaRPr lang="en-US" sz="1200" dirty="0"/>
          </a:p>
        </p:txBody>
      </p:sp>
      <p:sp>
        <p:nvSpPr>
          <p:cNvPr id="8" name="Text 6"/>
          <p:cNvSpPr/>
          <p:nvPr/>
        </p:nvSpPr>
        <p:spPr>
          <a:xfrm>
            <a:off x="812800" y="2343150"/>
            <a:ext cx="1701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01418"/>
                </a:solidFill>
                <a:latin typeface="Inter" pitchFamily="34" charset="0"/>
                <a:ea typeface="Inter" pitchFamily="34" charset="-122"/>
                <a:cs typeface="Inter" pitchFamily="34" charset="-120"/>
              </a:rPr>
              <a:t>Macro-F1</a:t>
            </a:r>
            <a:endParaRPr lang="en-US" sz="1600" dirty="0"/>
          </a:p>
        </p:txBody>
      </p:sp>
      <p:sp>
        <p:nvSpPr>
          <p:cNvPr id="9" name="Shape 7"/>
          <p:cNvSpPr/>
          <p:nvPr/>
        </p:nvSpPr>
        <p:spPr>
          <a:xfrm>
            <a:off x="2667000" y="2283461"/>
            <a:ext cx="2908300" cy="152400"/>
          </a:xfrm>
          <a:prstGeom prst="rect">
            <a:avLst/>
          </a:prstGeom>
          <a:solidFill>
            <a:srgbClr val="9AA0A6"/>
          </a:solidFill>
          <a:ln/>
        </p:spPr>
      </p:sp>
      <p:sp>
        <p:nvSpPr>
          <p:cNvPr id="10" name="Text 8"/>
          <p:cNvSpPr/>
          <p:nvPr/>
        </p:nvSpPr>
        <p:spPr>
          <a:xfrm>
            <a:off x="5676900" y="2252982"/>
            <a:ext cx="4988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0.654</a:t>
            </a:r>
            <a:endParaRPr lang="en-US" sz="1200" dirty="0"/>
          </a:p>
        </p:txBody>
      </p:sp>
      <p:sp>
        <p:nvSpPr>
          <p:cNvPr id="11" name="Shape 9"/>
          <p:cNvSpPr/>
          <p:nvPr/>
        </p:nvSpPr>
        <p:spPr>
          <a:xfrm>
            <a:off x="2667000" y="2534921"/>
            <a:ext cx="3149600" cy="152400"/>
          </a:xfrm>
          <a:prstGeom prst="rect">
            <a:avLst/>
          </a:prstGeom>
          <a:solidFill>
            <a:srgbClr val="2457F5"/>
          </a:solidFill>
          <a:ln/>
        </p:spPr>
      </p:sp>
      <p:sp>
        <p:nvSpPr>
          <p:cNvPr id="12" name="Text 10"/>
          <p:cNvSpPr/>
          <p:nvPr/>
        </p:nvSpPr>
        <p:spPr>
          <a:xfrm>
            <a:off x="5918200" y="2504439"/>
            <a:ext cx="520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F5"/>
                </a:solidFill>
                <a:latin typeface="Inter" pitchFamily="34" charset="0"/>
                <a:ea typeface="Inter" pitchFamily="34" charset="-122"/>
                <a:cs typeface="Inter" pitchFamily="34" charset="-120"/>
              </a:rPr>
              <a:t>0.709</a:t>
            </a:r>
            <a:endParaRPr lang="en-US" sz="1200" dirty="0"/>
          </a:p>
        </p:txBody>
      </p:sp>
      <p:sp>
        <p:nvSpPr>
          <p:cNvPr id="13" name="Text 11"/>
          <p:cNvSpPr/>
          <p:nvPr/>
        </p:nvSpPr>
        <p:spPr>
          <a:xfrm>
            <a:off x="10439400" y="2343150"/>
            <a:ext cx="939800"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2457F5"/>
                </a:solidFill>
                <a:latin typeface="Inter" pitchFamily="34" charset="0"/>
                <a:ea typeface="Inter" pitchFamily="34" charset="-122"/>
                <a:cs typeface="Inter" pitchFamily="34" charset="-120"/>
              </a:rPr>
              <a:t>+0.055</a:t>
            </a:r>
            <a:endParaRPr lang="en-US" sz="1600" dirty="0"/>
          </a:p>
        </p:txBody>
      </p:sp>
      <p:sp>
        <p:nvSpPr>
          <p:cNvPr id="14" name="Text 12"/>
          <p:cNvSpPr/>
          <p:nvPr/>
        </p:nvSpPr>
        <p:spPr>
          <a:xfrm>
            <a:off x="812800" y="2985771"/>
            <a:ext cx="17018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Negative F1</a:t>
            </a:r>
            <a:endParaRPr lang="en-US" sz="1600" dirty="0"/>
          </a:p>
        </p:txBody>
      </p:sp>
      <p:sp>
        <p:nvSpPr>
          <p:cNvPr id="15" name="Shape 13"/>
          <p:cNvSpPr/>
          <p:nvPr/>
        </p:nvSpPr>
        <p:spPr>
          <a:xfrm>
            <a:off x="2667000" y="2926082"/>
            <a:ext cx="2705100" cy="152400"/>
          </a:xfrm>
          <a:prstGeom prst="rect">
            <a:avLst/>
          </a:prstGeom>
          <a:solidFill>
            <a:srgbClr val="9AA0A6"/>
          </a:solidFill>
          <a:ln/>
        </p:spPr>
      </p:sp>
      <p:sp>
        <p:nvSpPr>
          <p:cNvPr id="16" name="Text 14"/>
          <p:cNvSpPr/>
          <p:nvPr/>
        </p:nvSpPr>
        <p:spPr>
          <a:xfrm>
            <a:off x="5473700" y="2895600"/>
            <a:ext cx="50072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0.608</a:t>
            </a:r>
            <a:endParaRPr lang="en-US" sz="1200" dirty="0"/>
          </a:p>
        </p:txBody>
      </p:sp>
      <p:sp>
        <p:nvSpPr>
          <p:cNvPr id="17" name="Shape 15"/>
          <p:cNvSpPr/>
          <p:nvPr/>
        </p:nvSpPr>
        <p:spPr>
          <a:xfrm>
            <a:off x="2667000" y="3177539"/>
            <a:ext cx="3187700" cy="152400"/>
          </a:xfrm>
          <a:prstGeom prst="rect">
            <a:avLst/>
          </a:prstGeom>
          <a:solidFill>
            <a:srgbClr val="2457F5"/>
          </a:solidFill>
          <a:ln/>
        </p:spPr>
      </p:sp>
      <p:sp>
        <p:nvSpPr>
          <p:cNvPr id="18" name="Text 16"/>
          <p:cNvSpPr/>
          <p:nvPr/>
        </p:nvSpPr>
        <p:spPr>
          <a:xfrm>
            <a:off x="5956300" y="3147061"/>
            <a:ext cx="46605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F5"/>
                </a:solidFill>
                <a:latin typeface="Inter" pitchFamily="34" charset="0"/>
                <a:ea typeface="Inter" pitchFamily="34" charset="-122"/>
                <a:cs typeface="Inter" pitchFamily="34" charset="-120"/>
              </a:rPr>
              <a:t>0.717</a:t>
            </a:r>
            <a:endParaRPr lang="en-US" sz="1200" dirty="0"/>
          </a:p>
        </p:txBody>
      </p:sp>
      <p:sp>
        <p:nvSpPr>
          <p:cNvPr id="19" name="Text 17"/>
          <p:cNvSpPr/>
          <p:nvPr/>
        </p:nvSpPr>
        <p:spPr>
          <a:xfrm>
            <a:off x="10439400" y="2985771"/>
            <a:ext cx="939800"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2457F5"/>
                </a:solidFill>
                <a:latin typeface="Inter" pitchFamily="34" charset="0"/>
                <a:ea typeface="Inter" pitchFamily="34" charset="-122"/>
                <a:cs typeface="Inter" pitchFamily="34" charset="-120"/>
              </a:rPr>
              <a:t>+0.109</a:t>
            </a:r>
            <a:endParaRPr lang="en-US" sz="1600" dirty="0"/>
          </a:p>
        </p:txBody>
      </p:sp>
      <p:sp>
        <p:nvSpPr>
          <p:cNvPr id="20" name="Text 18"/>
          <p:cNvSpPr/>
          <p:nvPr/>
        </p:nvSpPr>
        <p:spPr>
          <a:xfrm>
            <a:off x="812800" y="3628389"/>
            <a:ext cx="17018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Neutral F1</a:t>
            </a:r>
            <a:endParaRPr lang="en-US" sz="1600" dirty="0"/>
          </a:p>
        </p:txBody>
      </p:sp>
      <p:sp>
        <p:nvSpPr>
          <p:cNvPr id="21" name="Shape 19"/>
          <p:cNvSpPr/>
          <p:nvPr/>
        </p:nvSpPr>
        <p:spPr>
          <a:xfrm>
            <a:off x="2667000" y="3568700"/>
            <a:ext cx="1714500" cy="152400"/>
          </a:xfrm>
          <a:prstGeom prst="rect">
            <a:avLst/>
          </a:prstGeom>
          <a:solidFill>
            <a:srgbClr val="9AA0A6"/>
          </a:solidFill>
          <a:ln/>
        </p:spPr>
      </p:sp>
      <p:sp>
        <p:nvSpPr>
          <p:cNvPr id="22" name="Text 20"/>
          <p:cNvSpPr/>
          <p:nvPr/>
        </p:nvSpPr>
        <p:spPr>
          <a:xfrm>
            <a:off x="4483100" y="3538221"/>
            <a:ext cx="49310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0.385</a:t>
            </a:r>
            <a:endParaRPr lang="en-US" sz="1200" dirty="0"/>
          </a:p>
        </p:txBody>
      </p:sp>
      <p:sp>
        <p:nvSpPr>
          <p:cNvPr id="23" name="Shape 21"/>
          <p:cNvSpPr/>
          <p:nvPr/>
        </p:nvSpPr>
        <p:spPr>
          <a:xfrm>
            <a:off x="2667000" y="3820161"/>
            <a:ext cx="1930400" cy="152400"/>
          </a:xfrm>
          <a:prstGeom prst="rect">
            <a:avLst/>
          </a:prstGeom>
          <a:solidFill>
            <a:srgbClr val="2457F5"/>
          </a:solidFill>
          <a:ln/>
        </p:spPr>
      </p:sp>
      <p:sp>
        <p:nvSpPr>
          <p:cNvPr id="24" name="Text 22"/>
          <p:cNvSpPr/>
          <p:nvPr/>
        </p:nvSpPr>
        <p:spPr>
          <a:xfrm>
            <a:off x="4699000" y="3789682"/>
            <a:ext cx="53463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F5"/>
                </a:solidFill>
                <a:latin typeface="Inter" pitchFamily="34" charset="0"/>
                <a:ea typeface="Inter" pitchFamily="34" charset="-122"/>
                <a:cs typeface="Inter" pitchFamily="34" charset="-120"/>
              </a:rPr>
              <a:t>0.435</a:t>
            </a:r>
            <a:endParaRPr lang="en-US" sz="1200" dirty="0"/>
          </a:p>
        </p:txBody>
      </p:sp>
      <p:sp>
        <p:nvSpPr>
          <p:cNvPr id="25" name="Text 23"/>
          <p:cNvSpPr/>
          <p:nvPr/>
        </p:nvSpPr>
        <p:spPr>
          <a:xfrm>
            <a:off x="10439400" y="3628389"/>
            <a:ext cx="939800"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2457F5"/>
                </a:solidFill>
                <a:latin typeface="Inter" pitchFamily="34" charset="0"/>
                <a:ea typeface="Inter" pitchFamily="34" charset="-122"/>
                <a:cs typeface="Inter" pitchFamily="34" charset="-120"/>
              </a:rPr>
              <a:t>+0.050</a:t>
            </a:r>
            <a:endParaRPr lang="en-US" sz="1600" dirty="0"/>
          </a:p>
        </p:txBody>
      </p:sp>
      <p:sp>
        <p:nvSpPr>
          <p:cNvPr id="26" name="Text 24"/>
          <p:cNvSpPr/>
          <p:nvPr/>
        </p:nvSpPr>
        <p:spPr>
          <a:xfrm>
            <a:off x="812800" y="4271011"/>
            <a:ext cx="17018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Positive F1</a:t>
            </a:r>
            <a:endParaRPr lang="en-US" sz="1600" dirty="0"/>
          </a:p>
        </p:txBody>
      </p:sp>
      <p:sp>
        <p:nvSpPr>
          <p:cNvPr id="27" name="Shape 25"/>
          <p:cNvSpPr/>
          <p:nvPr/>
        </p:nvSpPr>
        <p:spPr>
          <a:xfrm>
            <a:off x="2667000" y="4211321"/>
            <a:ext cx="4305300" cy="152400"/>
          </a:xfrm>
          <a:prstGeom prst="rect">
            <a:avLst/>
          </a:prstGeom>
          <a:solidFill>
            <a:srgbClr val="9AA0A6"/>
          </a:solidFill>
          <a:ln/>
        </p:spPr>
      </p:sp>
      <p:sp>
        <p:nvSpPr>
          <p:cNvPr id="28" name="Text 26"/>
          <p:cNvSpPr/>
          <p:nvPr/>
        </p:nvSpPr>
        <p:spPr>
          <a:xfrm>
            <a:off x="7073900" y="4180839"/>
            <a:ext cx="5024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0.969</a:t>
            </a:r>
            <a:endParaRPr lang="en-US" sz="1200" dirty="0"/>
          </a:p>
        </p:txBody>
      </p:sp>
      <p:sp>
        <p:nvSpPr>
          <p:cNvPr id="29" name="Shape 27"/>
          <p:cNvSpPr/>
          <p:nvPr/>
        </p:nvSpPr>
        <p:spPr>
          <a:xfrm>
            <a:off x="2667000" y="4462782"/>
            <a:ext cx="4337050" cy="152400"/>
          </a:xfrm>
          <a:prstGeom prst="rect">
            <a:avLst/>
          </a:prstGeom>
          <a:solidFill>
            <a:srgbClr val="2457F5"/>
          </a:solidFill>
          <a:ln/>
        </p:spPr>
      </p:sp>
      <p:sp>
        <p:nvSpPr>
          <p:cNvPr id="30" name="Text 28"/>
          <p:cNvSpPr/>
          <p:nvPr/>
        </p:nvSpPr>
        <p:spPr>
          <a:xfrm>
            <a:off x="7105650" y="4432300"/>
            <a:ext cx="51425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F5"/>
                </a:solidFill>
                <a:latin typeface="Inter" pitchFamily="34" charset="0"/>
                <a:ea typeface="Inter" pitchFamily="34" charset="-122"/>
                <a:cs typeface="Inter" pitchFamily="34" charset="-120"/>
              </a:rPr>
              <a:t>0.976</a:t>
            </a:r>
            <a:endParaRPr lang="en-US" sz="1200" dirty="0"/>
          </a:p>
        </p:txBody>
      </p:sp>
      <p:sp>
        <p:nvSpPr>
          <p:cNvPr id="31" name="Text 29"/>
          <p:cNvSpPr/>
          <p:nvPr/>
        </p:nvSpPr>
        <p:spPr>
          <a:xfrm>
            <a:off x="10439400" y="4271011"/>
            <a:ext cx="939800"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2457F5"/>
                </a:solidFill>
                <a:latin typeface="Inter" pitchFamily="34" charset="0"/>
                <a:ea typeface="Inter" pitchFamily="34" charset="-122"/>
                <a:cs typeface="Inter" pitchFamily="34" charset="-120"/>
              </a:rPr>
              <a:t>+0.007</a:t>
            </a:r>
            <a:endParaRPr lang="en-US" sz="1600" dirty="0"/>
          </a:p>
        </p:txBody>
      </p:sp>
      <p:sp>
        <p:nvSpPr>
          <p:cNvPr id="32" name="Text 30"/>
          <p:cNvSpPr/>
          <p:nvPr/>
        </p:nvSpPr>
        <p:spPr>
          <a:xfrm>
            <a:off x="812800" y="4899661"/>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Accuracy rises from 93.6% to 94.6%. The test set has only about 120 negative and 225 neutral reviews, so per-class scores are noisy.</a:t>
            </a:r>
            <a:endParaRPr lang="en-US" sz="1600" dirty="0"/>
          </a:p>
        </p:txBody>
      </p:sp>
      <p:sp>
        <p:nvSpPr>
          <p:cNvPr id="33" name="Text 31"/>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Task 1 · Sentiment model · Held-out test set, 5,190 reviews</a:t>
            </a:r>
            <a:endParaRPr lang="en-US" sz="1200" dirty="0"/>
          </a:p>
        </p:txBody>
      </p:sp>
      <p:sp>
        <p:nvSpPr>
          <p:cNvPr id="34" name="Text 32"/>
          <p:cNvSpPr/>
          <p:nvPr/>
        </p:nvSpPr>
        <p:spPr>
          <a:xfrm>
            <a:off x="9417050" y="6238239"/>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78"/>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457F5"/>
        </a:solidFill>
      </p:bgPr>
    </p:bg>
    <p:spTree>
      <p:nvGrpSpPr>
        <p:cNvPr id="1" name=""/>
        <p:cNvGrpSpPr/>
        <p:nvPr/>
      </p:nvGrpSpPr>
      <p:grpSpPr>
        <a:xfrm>
          <a:off x="0" y="0"/>
          <a:ext cx="0" cy="0"/>
          <a:chOff x="0" y="0"/>
          <a:chExt cx="0" cy="0"/>
        </a:xfrm>
      </p:grpSpPr>
      <p:sp>
        <p:nvSpPr>
          <p:cNvPr id="2" name="Text 0"/>
          <p:cNvSpPr/>
          <p:nvPr/>
        </p:nvSpPr>
        <p:spPr>
          <a:xfrm>
            <a:off x="812800" y="199263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AFAF8"/>
                </a:solidFill>
                <a:latin typeface="Inter" pitchFamily="34" charset="0"/>
                <a:ea typeface="Inter" pitchFamily="34" charset="-122"/>
                <a:cs typeface="Inter" pitchFamily="34" charset="-120"/>
              </a:rPr>
              <a:t>TASK 1 · NEUTRAL IS THE HARD CLASS</a:t>
            </a:r>
            <a:endParaRPr lang="en-US" sz="1200" dirty="0"/>
          </a:p>
        </p:txBody>
      </p:sp>
      <p:sp>
        <p:nvSpPr>
          <p:cNvPr id="3" name="Text 1"/>
          <p:cNvSpPr/>
          <p:nvPr/>
        </p:nvSpPr>
        <p:spPr>
          <a:xfrm>
            <a:off x="812800" y="2459989"/>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FAFAF8"/>
                </a:solidFill>
                <a:latin typeface="Inter" pitchFamily="34" charset="0"/>
                <a:ea typeface="Inter" pitchFamily="34" charset="-122"/>
                <a:cs typeface="Inter" pitchFamily="34" charset="-120"/>
              </a:rPr>
              <a:t>118 of 225</a:t>
            </a:r>
            <a:endParaRPr lang="en-US" sz="6000" dirty="0"/>
          </a:p>
        </p:txBody>
      </p:sp>
      <p:sp>
        <p:nvSpPr>
          <p:cNvPr id="4" name="Text 2"/>
          <p:cNvSpPr/>
          <p:nvPr/>
        </p:nvSpPr>
        <p:spPr>
          <a:xfrm>
            <a:off x="812800" y="3475989"/>
            <a:ext cx="10883392"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AFAF8"/>
                </a:solidFill>
                <a:latin typeface="Inter" pitchFamily="34" charset="0"/>
                <a:ea typeface="Inter" pitchFamily="34" charset="-122"/>
                <a:cs typeface="Inter" pitchFamily="34" charset="-120"/>
              </a:rPr>
              <a:t>neutral test reviews were predicted as positive by the baseline.</a:t>
            </a:r>
            <a:endParaRPr lang="en-US" sz="2200" dirty="0"/>
          </a:p>
        </p:txBody>
      </p:sp>
      <p:sp>
        <p:nvSpPr>
          <p:cNvPr id="5" name="Text 3"/>
          <p:cNvSpPr/>
          <p:nvPr/>
        </p:nvSpPr>
        <p:spPr>
          <a:xfrm>
            <a:off x="812800" y="4093214"/>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AFAF8"/>
                </a:solidFill>
                <a:latin typeface="Inter" pitchFamily="34" charset="0"/>
                <a:ea typeface="Inter" pitchFamily="34" charset="-122"/>
                <a:cs typeface="Inter" pitchFamily="34" charset="-120"/>
              </a:rPr>
              <a:t>RoBERTa lifts neutral F1 from 0.385 to 0.435. Three-star reviews mix praise and complaints, so the label itself is a judgement call.</a:t>
            </a:r>
            <a:endParaRPr lang="en-US" sz="1600" dirty="0"/>
          </a:p>
        </p:txBody>
      </p:sp>
      <p:sp>
        <p:nvSpPr>
          <p:cNvPr id="6" name="Text 4"/>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AFAF8"/>
                </a:solidFill>
                <a:latin typeface="Inter" pitchFamily="34" charset="0"/>
                <a:ea typeface="Inter" pitchFamily="34" charset="-122"/>
                <a:cs typeface="Inter" pitchFamily="34" charset="-120"/>
              </a:rPr>
              <a:t>Task 1 · Sentiment model</a:t>
            </a:r>
            <a:endParaRPr lang="en-US" sz="1200" dirty="0"/>
          </a:p>
        </p:txBody>
      </p:sp>
      <p:sp>
        <p:nvSpPr>
          <p:cNvPr id="7" name="Text 5"/>
          <p:cNvSpPr/>
          <p:nvPr/>
        </p:nvSpPr>
        <p:spPr>
          <a:xfrm>
            <a:off x="9417050" y="6238242"/>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AFAF8"/>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7F5"/>
                </a:solidFill>
                <a:latin typeface="Inter" pitchFamily="34" charset="0"/>
                <a:ea typeface="Inter" pitchFamily="34" charset="-122"/>
                <a:cs typeface="Inter" pitchFamily="34" charset="-120"/>
              </a:rPr>
              <a:t>TASK 2 · CATEGORY CLUSTERS</a:t>
            </a:r>
            <a:endParaRPr lang="en-US" sz="1200" dirty="0"/>
          </a:p>
        </p:txBody>
      </p:sp>
      <p:sp>
        <p:nvSpPr>
          <p:cNvPr id="3" name="Text 1"/>
          <p:cNvSpPr/>
          <p:nvPr>
            <p:ph type="title"/>
          </p:nvPr>
        </p:nvSpPr>
        <p:spPr>
          <a:xfrm>
            <a:off x="812800" y="1127764"/>
            <a:ext cx="10883392" cy="50546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01418"/>
                </a:solidFill>
                <a:latin typeface="Inter" pitchFamily="34" charset="0"/>
                <a:ea typeface="Inter" pitchFamily="34" charset="-122"/>
                <a:cs typeface="Inter" pitchFamily="34" charset="-120"/>
              </a:rPr>
              <a:t>Cluster products, not reviews</a:t>
            </a:r>
            <a:endParaRPr lang="en-US" sz="3600" dirty="0"/>
          </a:p>
        </p:txBody>
      </p:sp>
      <p:sp>
        <p:nvSpPr>
          <p:cNvPr id="4" name="Text 2"/>
          <p:cNvSpPr/>
          <p:nvPr/>
        </p:nvSpPr>
        <p:spPr>
          <a:xfrm>
            <a:off x="812800" y="1861821"/>
            <a:ext cx="3924300"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2457F5"/>
                </a:solidFill>
                <a:latin typeface="Inter" pitchFamily="34" charset="0"/>
                <a:ea typeface="Inter" pitchFamily="34" charset="-122"/>
                <a:cs typeface="Inter" pitchFamily="34" charset="-120"/>
              </a:rPr>
              <a:t>88%</a:t>
            </a:r>
            <a:endParaRPr lang="en-US" sz="6000" dirty="0"/>
          </a:p>
        </p:txBody>
      </p:sp>
      <p:sp>
        <p:nvSpPr>
          <p:cNvPr id="5" name="Text 3"/>
          <p:cNvSpPr/>
          <p:nvPr/>
        </p:nvSpPr>
        <p:spPr>
          <a:xfrm>
            <a:off x="812800" y="2725421"/>
            <a:ext cx="392430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of reviews belong to six products. Clustering the reviews themselves would just rebuild the Fire tablet group.</a:t>
            </a:r>
            <a:endParaRPr lang="en-US" sz="1600" dirty="0"/>
          </a:p>
        </p:txBody>
      </p:sp>
      <p:sp>
        <p:nvSpPr>
          <p:cNvPr id="6" name="Shape 4"/>
          <p:cNvSpPr/>
          <p:nvPr/>
        </p:nvSpPr>
        <p:spPr>
          <a:xfrm>
            <a:off x="5232400" y="1868171"/>
            <a:ext cx="6146800" cy="0"/>
          </a:xfrm>
          <a:prstGeom prst="line">
            <a:avLst/>
          </a:prstGeom>
          <a:noFill/>
          <a:ln w="12700">
            <a:solidFill>
              <a:srgbClr val="D9DBDD"/>
            </a:solidFill>
            <a:prstDash val="solid"/>
          </a:ln>
        </p:spPr>
      </p:sp>
      <p:sp>
        <p:nvSpPr>
          <p:cNvPr id="7" name="Text 5"/>
          <p:cNvSpPr/>
          <p:nvPr/>
        </p:nvSpPr>
        <p:spPr>
          <a:xfrm>
            <a:off x="5232400" y="1998979"/>
            <a:ext cx="40640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457F5"/>
                </a:solidFill>
                <a:latin typeface="Inter" pitchFamily="34" charset="0"/>
                <a:ea typeface="Inter" pitchFamily="34" charset="-122"/>
                <a:cs typeface="Inter" pitchFamily="34" charset="-120"/>
              </a:rPr>
              <a:t>1</a:t>
            </a:r>
            <a:endParaRPr lang="en-US" sz="2200" dirty="0"/>
          </a:p>
        </p:txBody>
      </p:sp>
      <p:sp>
        <p:nvSpPr>
          <p:cNvPr id="8" name="Text 6"/>
          <p:cNvSpPr/>
          <p:nvPr/>
        </p:nvSpPr>
        <p:spPr>
          <a:xfrm>
            <a:off x="5740400" y="1998979"/>
            <a:ext cx="366807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One row per product, 36 in total</a:t>
            </a:r>
            <a:endParaRPr lang="en-US" sz="1600" dirty="0"/>
          </a:p>
        </p:txBody>
      </p:sp>
      <p:sp>
        <p:nvSpPr>
          <p:cNvPr id="9" name="Shape 7"/>
          <p:cNvSpPr/>
          <p:nvPr/>
        </p:nvSpPr>
        <p:spPr>
          <a:xfrm>
            <a:off x="5232400" y="2439671"/>
            <a:ext cx="6146800" cy="0"/>
          </a:xfrm>
          <a:prstGeom prst="line">
            <a:avLst/>
          </a:prstGeom>
          <a:noFill/>
          <a:ln w="12700">
            <a:solidFill>
              <a:srgbClr val="D9DBDD"/>
            </a:solidFill>
            <a:prstDash val="solid"/>
          </a:ln>
        </p:spPr>
      </p:sp>
      <p:sp>
        <p:nvSpPr>
          <p:cNvPr id="10" name="Text 8"/>
          <p:cNvSpPr/>
          <p:nvPr/>
        </p:nvSpPr>
        <p:spPr>
          <a:xfrm>
            <a:off x="5232400" y="2570479"/>
            <a:ext cx="40640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457F5"/>
                </a:solidFill>
                <a:latin typeface="Inter" pitchFamily="34" charset="0"/>
                <a:ea typeface="Inter" pitchFamily="34" charset="-122"/>
                <a:cs typeface="Inter" pitchFamily="34" charset="-120"/>
              </a:rPr>
              <a:t>2</a:t>
            </a:r>
            <a:endParaRPr lang="en-US" sz="2200" dirty="0"/>
          </a:p>
        </p:txBody>
      </p:sp>
      <p:sp>
        <p:nvSpPr>
          <p:cNvPr id="11" name="Text 9"/>
          <p:cNvSpPr/>
          <p:nvPr/>
        </p:nvSpPr>
        <p:spPr>
          <a:xfrm>
            <a:off x="5740400" y="2570479"/>
            <a:ext cx="56388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Features: category text plus the text of its reviews</a:t>
            </a:r>
            <a:endParaRPr lang="en-US" sz="1600" dirty="0"/>
          </a:p>
        </p:txBody>
      </p:sp>
      <p:sp>
        <p:nvSpPr>
          <p:cNvPr id="12" name="Shape 10"/>
          <p:cNvSpPr/>
          <p:nvPr/>
        </p:nvSpPr>
        <p:spPr>
          <a:xfrm>
            <a:off x="5232400" y="3011171"/>
            <a:ext cx="6146800" cy="0"/>
          </a:xfrm>
          <a:prstGeom prst="line">
            <a:avLst/>
          </a:prstGeom>
          <a:noFill/>
          <a:ln w="12700">
            <a:solidFill>
              <a:srgbClr val="D9DBDD"/>
            </a:solidFill>
            <a:prstDash val="solid"/>
          </a:ln>
        </p:spPr>
      </p:sp>
      <p:sp>
        <p:nvSpPr>
          <p:cNvPr id="13" name="Text 11"/>
          <p:cNvSpPr/>
          <p:nvPr/>
        </p:nvSpPr>
        <p:spPr>
          <a:xfrm>
            <a:off x="5232400" y="3141979"/>
            <a:ext cx="40640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457F5"/>
                </a:solidFill>
                <a:latin typeface="Inter" pitchFamily="34" charset="0"/>
                <a:ea typeface="Inter" pitchFamily="34" charset="-122"/>
                <a:cs typeface="Inter" pitchFamily="34" charset="-120"/>
              </a:rPr>
              <a:t>3</a:t>
            </a:r>
            <a:endParaRPr lang="en-US" sz="2200" dirty="0"/>
          </a:p>
        </p:txBody>
      </p:sp>
      <p:sp>
        <p:nvSpPr>
          <p:cNvPr id="14" name="Text 12"/>
          <p:cNvSpPr/>
          <p:nvPr/>
        </p:nvSpPr>
        <p:spPr>
          <a:xfrm>
            <a:off x="5740400" y="3141979"/>
            <a:ext cx="580796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KMeans for k = 2 to 8, silhouette score to pick within 4 to 6</a:t>
            </a:r>
            <a:endParaRPr lang="en-US" sz="1600" dirty="0"/>
          </a:p>
        </p:txBody>
      </p:sp>
      <p:sp>
        <p:nvSpPr>
          <p:cNvPr id="15" name="Shape 13"/>
          <p:cNvSpPr/>
          <p:nvPr/>
        </p:nvSpPr>
        <p:spPr>
          <a:xfrm>
            <a:off x="5232400" y="3844292"/>
            <a:ext cx="6146800" cy="0"/>
          </a:xfrm>
          <a:prstGeom prst="line">
            <a:avLst/>
          </a:prstGeom>
          <a:noFill/>
          <a:ln w="12700">
            <a:solidFill>
              <a:srgbClr val="D9DBDD"/>
            </a:solidFill>
            <a:prstDash val="solid"/>
          </a:ln>
        </p:spPr>
      </p:sp>
      <p:sp>
        <p:nvSpPr>
          <p:cNvPr id="16" name="Text 14"/>
          <p:cNvSpPr/>
          <p:nvPr/>
        </p:nvSpPr>
        <p:spPr>
          <a:xfrm>
            <a:off x="5232400" y="3975100"/>
            <a:ext cx="40640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457F5"/>
                </a:solidFill>
                <a:latin typeface="Inter" pitchFamily="34" charset="0"/>
                <a:ea typeface="Inter" pitchFamily="34" charset="-122"/>
                <a:cs typeface="Inter" pitchFamily="34" charset="-120"/>
              </a:rPr>
              <a:t>4</a:t>
            </a:r>
            <a:endParaRPr lang="en-US" sz="2200" dirty="0"/>
          </a:p>
        </p:txBody>
      </p:sp>
      <p:sp>
        <p:nvSpPr>
          <p:cNvPr id="17" name="Text 15"/>
          <p:cNvSpPr/>
          <p:nvPr/>
        </p:nvSpPr>
        <p:spPr>
          <a:xfrm>
            <a:off x="5740400" y="3975100"/>
            <a:ext cx="580796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Merge any cluster with fewer than 100 reviews into its nearest neighbour</a:t>
            </a:r>
            <a:endParaRPr lang="en-US" sz="1600" dirty="0"/>
          </a:p>
        </p:txBody>
      </p:sp>
      <p:sp>
        <p:nvSpPr>
          <p:cNvPr id="18" name="Text 16"/>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Task 2 · Category clusters</a:t>
            </a:r>
            <a:endParaRPr lang="en-US" sz="1200" dirty="0"/>
          </a:p>
        </p:txBody>
      </p:sp>
      <p:sp>
        <p:nvSpPr>
          <p:cNvPr id="19" name="Text 17"/>
          <p:cNvSpPr/>
          <p:nvPr/>
        </p:nvSpPr>
        <p:spPr>
          <a:xfrm>
            <a:off x="9417050" y="6238242"/>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78"/>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7F5"/>
                </a:solidFill>
                <a:latin typeface="Inter" pitchFamily="34" charset="0"/>
                <a:ea typeface="Inter" pitchFamily="34" charset="-122"/>
                <a:cs typeface="Inter" pitchFamily="34" charset="-120"/>
              </a:rPr>
              <a:t>TASK 2 · CATEGORY CLUSTERS</a:t>
            </a:r>
            <a:endParaRPr lang="en-US" sz="1200" dirty="0"/>
          </a:p>
        </p:txBody>
      </p:sp>
      <p:sp>
        <p:nvSpPr>
          <p:cNvPr id="3" name="Text 1"/>
          <p:cNvSpPr/>
          <p:nvPr>
            <p:ph type="title"/>
          </p:nvPr>
        </p:nvSpPr>
        <p:spPr>
          <a:xfrm>
            <a:off x="812800" y="1127764"/>
            <a:ext cx="10883392" cy="50546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01418"/>
                </a:solidFill>
                <a:latin typeface="Inter" pitchFamily="34" charset="0"/>
                <a:ea typeface="Inter" pitchFamily="34" charset="-122"/>
                <a:cs typeface="Inter" pitchFamily="34" charset="-120"/>
              </a:rPr>
              <a:t>Five meta-categories</a:t>
            </a:r>
            <a:endParaRPr lang="en-US" sz="3600" dirty="0"/>
          </a:p>
        </p:txBody>
      </p:sp>
      <p:sp>
        <p:nvSpPr>
          <p:cNvPr id="4" name="Text 2"/>
          <p:cNvSpPr/>
          <p:nvPr/>
        </p:nvSpPr>
        <p:spPr>
          <a:xfrm>
            <a:off x="812800" y="1861821"/>
            <a:ext cx="3662680" cy="4521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7178"/>
                </a:solidFill>
                <a:latin typeface="Inter" pitchFamily="34" charset="0"/>
                <a:ea typeface="Inter" pitchFamily="34" charset="-122"/>
                <a:cs typeface="Inter" pitchFamily="34" charset="-120"/>
              </a:rPr>
              <a:t>CATEGORY</a:t>
            </a:r>
            <a:endParaRPr lang="en-US" sz="1200" dirty="0"/>
          </a:p>
        </p:txBody>
      </p:sp>
      <p:sp>
        <p:nvSpPr>
          <p:cNvPr id="5" name="Text 3"/>
          <p:cNvSpPr/>
          <p:nvPr/>
        </p:nvSpPr>
        <p:spPr>
          <a:xfrm>
            <a:off x="4470400" y="1861821"/>
            <a:ext cx="812800" cy="4521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6B7178"/>
                </a:solidFill>
                <a:latin typeface="Inter" pitchFamily="34" charset="0"/>
                <a:ea typeface="Inter" pitchFamily="34" charset="-122"/>
                <a:cs typeface="Inter" pitchFamily="34" charset="-120"/>
              </a:rPr>
              <a:t>PRODUCTS</a:t>
            </a:r>
            <a:endParaRPr lang="en-US" sz="1200" dirty="0"/>
          </a:p>
        </p:txBody>
      </p:sp>
      <p:sp>
        <p:nvSpPr>
          <p:cNvPr id="6" name="Text 4"/>
          <p:cNvSpPr/>
          <p:nvPr/>
        </p:nvSpPr>
        <p:spPr>
          <a:xfrm>
            <a:off x="5435600" y="1861821"/>
            <a:ext cx="5114671" cy="4521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7178"/>
                </a:solidFill>
                <a:latin typeface="Inter" pitchFamily="34" charset="0"/>
                <a:ea typeface="Inter" pitchFamily="34" charset="-122"/>
                <a:cs typeface="Inter" pitchFamily="34" charset="-120"/>
              </a:rPr>
              <a:t>REVIEWS</a:t>
            </a:r>
            <a:endParaRPr lang="en-US" sz="1200" dirty="0"/>
          </a:p>
        </p:txBody>
      </p:sp>
      <p:sp>
        <p:nvSpPr>
          <p:cNvPr id="7" name="Text 5"/>
          <p:cNvSpPr/>
          <p:nvPr/>
        </p:nvSpPr>
        <p:spPr>
          <a:xfrm>
            <a:off x="10502900" y="1861821"/>
            <a:ext cx="876300" cy="4521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6B7178"/>
                </a:solidFill>
                <a:latin typeface="Inter" pitchFamily="34" charset="0"/>
                <a:ea typeface="Inter" pitchFamily="34" charset="-122"/>
                <a:cs typeface="Inter" pitchFamily="34" charset="-120"/>
              </a:rPr>
              <a:t>AVG RATING</a:t>
            </a:r>
            <a:endParaRPr lang="en-US" sz="1200" dirty="0"/>
          </a:p>
        </p:txBody>
      </p:sp>
      <p:sp>
        <p:nvSpPr>
          <p:cNvPr id="8" name="Text 6"/>
          <p:cNvSpPr/>
          <p:nvPr/>
        </p:nvSpPr>
        <p:spPr>
          <a:xfrm>
            <a:off x="812800" y="2440942"/>
            <a:ext cx="36626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Fire tablets</a:t>
            </a:r>
            <a:endParaRPr lang="en-US" sz="1600" dirty="0"/>
          </a:p>
        </p:txBody>
      </p:sp>
      <p:sp>
        <p:nvSpPr>
          <p:cNvPr id="9" name="Text 7"/>
          <p:cNvSpPr/>
          <p:nvPr/>
        </p:nvSpPr>
        <p:spPr>
          <a:xfrm>
            <a:off x="4470400" y="2440942"/>
            <a:ext cx="812800"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6B7178"/>
                </a:solidFill>
                <a:latin typeface="Inter" pitchFamily="34" charset="0"/>
                <a:ea typeface="Inter" pitchFamily="34" charset="-122"/>
                <a:cs typeface="Inter" pitchFamily="34" charset="-120"/>
              </a:rPr>
              <a:t>13</a:t>
            </a:r>
            <a:endParaRPr lang="en-US" sz="1600" dirty="0"/>
          </a:p>
        </p:txBody>
      </p:sp>
      <p:sp>
        <p:nvSpPr>
          <p:cNvPr id="10" name="Shape 8"/>
          <p:cNvSpPr/>
          <p:nvPr/>
        </p:nvSpPr>
        <p:spPr>
          <a:xfrm>
            <a:off x="5435600" y="2456179"/>
            <a:ext cx="3556000" cy="254000"/>
          </a:xfrm>
          <a:prstGeom prst="rect">
            <a:avLst/>
          </a:prstGeom>
          <a:solidFill>
            <a:srgbClr val="2457F5"/>
          </a:solidFill>
          <a:ln/>
        </p:spPr>
      </p:sp>
      <p:sp>
        <p:nvSpPr>
          <p:cNvPr id="11" name="Text 9"/>
          <p:cNvSpPr/>
          <p:nvPr/>
        </p:nvSpPr>
        <p:spPr>
          <a:xfrm>
            <a:off x="9093200" y="2440942"/>
            <a:ext cx="720471"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17,605</a:t>
            </a:r>
            <a:endParaRPr lang="en-US" sz="1600" dirty="0"/>
          </a:p>
        </p:txBody>
      </p:sp>
      <p:sp>
        <p:nvSpPr>
          <p:cNvPr id="12" name="Text 10"/>
          <p:cNvSpPr/>
          <p:nvPr/>
        </p:nvSpPr>
        <p:spPr>
          <a:xfrm>
            <a:off x="10502900" y="2440942"/>
            <a:ext cx="876300"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01418"/>
                </a:solidFill>
                <a:latin typeface="Inter" pitchFamily="34" charset="0"/>
                <a:ea typeface="Inter" pitchFamily="34" charset="-122"/>
                <a:cs typeface="Inter" pitchFamily="34" charset="-120"/>
              </a:rPr>
              <a:t>4.49</a:t>
            </a:r>
            <a:endParaRPr lang="en-US" sz="1600" dirty="0"/>
          </a:p>
        </p:txBody>
      </p:sp>
      <p:sp>
        <p:nvSpPr>
          <p:cNvPr id="13" name="Text 11"/>
          <p:cNvSpPr/>
          <p:nvPr/>
        </p:nvSpPr>
        <p:spPr>
          <a:xfrm>
            <a:off x="812800" y="2877821"/>
            <a:ext cx="36626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Smart speakers (Echo)</a:t>
            </a:r>
            <a:endParaRPr lang="en-US" sz="1600" dirty="0"/>
          </a:p>
        </p:txBody>
      </p:sp>
      <p:sp>
        <p:nvSpPr>
          <p:cNvPr id="14" name="Text 12"/>
          <p:cNvSpPr/>
          <p:nvPr/>
        </p:nvSpPr>
        <p:spPr>
          <a:xfrm>
            <a:off x="4470400" y="2877821"/>
            <a:ext cx="812800"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6B7178"/>
                </a:solidFill>
                <a:latin typeface="Inter" pitchFamily="34" charset="0"/>
                <a:ea typeface="Inter" pitchFamily="34" charset="-122"/>
                <a:cs typeface="Inter" pitchFamily="34" charset="-120"/>
              </a:rPr>
              <a:t>3</a:t>
            </a:r>
            <a:endParaRPr lang="en-US" sz="1600" dirty="0"/>
          </a:p>
        </p:txBody>
      </p:sp>
      <p:sp>
        <p:nvSpPr>
          <p:cNvPr id="15" name="Shape 13"/>
          <p:cNvSpPr/>
          <p:nvPr/>
        </p:nvSpPr>
        <p:spPr>
          <a:xfrm>
            <a:off x="5435600" y="2893064"/>
            <a:ext cx="1466850" cy="254000"/>
          </a:xfrm>
          <a:prstGeom prst="rect">
            <a:avLst/>
          </a:prstGeom>
          <a:solidFill>
            <a:srgbClr val="2457F5"/>
          </a:solidFill>
          <a:ln/>
        </p:spPr>
      </p:sp>
      <p:sp>
        <p:nvSpPr>
          <p:cNvPr id="16" name="Text 14"/>
          <p:cNvSpPr/>
          <p:nvPr/>
        </p:nvSpPr>
        <p:spPr>
          <a:xfrm>
            <a:off x="7004050" y="2877821"/>
            <a:ext cx="57692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7,261</a:t>
            </a:r>
            <a:endParaRPr lang="en-US" sz="1600" dirty="0"/>
          </a:p>
        </p:txBody>
      </p:sp>
      <p:sp>
        <p:nvSpPr>
          <p:cNvPr id="17" name="Text 15"/>
          <p:cNvSpPr/>
          <p:nvPr/>
        </p:nvSpPr>
        <p:spPr>
          <a:xfrm>
            <a:off x="10502900" y="2877821"/>
            <a:ext cx="876300"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01418"/>
                </a:solidFill>
                <a:latin typeface="Inter" pitchFamily="34" charset="0"/>
                <a:ea typeface="Inter" pitchFamily="34" charset="-122"/>
                <a:cs typeface="Inter" pitchFamily="34" charset="-120"/>
              </a:rPr>
              <a:t>4.66</a:t>
            </a:r>
            <a:endParaRPr lang="en-US" sz="1600" dirty="0"/>
          </a:p>
        </p:txBody>
      </p:sp>
      <p:sp>
        <p:nvSpPr>
          <p:cNvPr id="18" name="Text 16"/>
          <p:cNvSpPr/>
          <p:nvPr/>
        </p:nvSpPr>
        <p:spPr>
          <a:xfrm>
            <a:off x="812800" y="3314700"/>
            <a:ext cx="36626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Streaming devices (Fire TV)</a:t>
            </a:r>
            <a:endParaRPr lang="en-US" sz="1600" dirty="0"/>
          </a:p>
        </p:txBody>
      </p:sp>
      <p:sp>
        <p:nvSpPr>
          <p:cNvPr id="19" name="Text 17"/>
          <p:cNvSpPr/>
          <p:nvPr/>
        </p:nvSpPr>
        <p:spPr>
          <a:xfrm>
            <a:off x="4470400" y="3314700"/>
            <a:ext cx="812800"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6B7178"/>
                </a:solidFill>
                <a:latin typeface="Inter" pitchFamily="34" charset="0"/>
                <a:ea typeface="Inter" pitchFamily="34" charset="-122"/>
                <a:cs typeface="Inter" pitchFamily="34" charset="-120"/>
              </a:rPr>
              <a:t>4</a:t>
            </a:r>
            <a:endParaRPr lang="en-US" sz="1600" dirty="0"/>
          </a:p>
        </p:txBody>
      </p:sp>
      <p:sp>
        <p:nvSpPr>
          <p:cNvPr id="20" name="Shape 18"/>
          <p:cNvSpPr/>
          <p:nvPr/>
        </p:nvSpPr>
        <p:spPr>
          <a:xfrm>
            <a:off x="5435600" y="3329942"/>
            <a:ext cx="1028700" cy="254000"/>
          </a:xfrm>
          <a:prstGeom prst="rect">
            <a:avLst/>
          </a:prstGeom>
          <a:solidFill>
            <a:srgbClr val="2457F5"/>
          </a:solidFill>
          <a:ln/>
        </p:spPr>
      </p:sp>
      <p:sp>
        <p:nvSpPr>
          <p:cNvPr id="21" name="Text 19"/>
          <p:cNvSpPr/>
          <p:nvPr/>
        </p:nvSpPr>
        <p:spPr>
          <a:xfrm>
            <a:off x="6565900" y="3314700"/>
            <a:ext cx="66074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5,080</a:t>
            </a:r>
            <a:endParaRPr lang="en-US" sz="1600" dirty="0"/>
          </a:p>
        </p:txBody>
      </p:sp>
      <p:sp>
        <p:nvSpPr>
          <p:cNvPr id="22" name="Text 20"/>
          <p:cNvSpPr/>
          <p:nvPr/>
        </p:nvSpPr>
        <p:spPr>
          <a:xfrm>
            <a:off x="10502900" y="3314700"/>
            <a:ext cx="876300"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01418"/>
                </a:solidFill>
                <a:latin typeface="Inter" pitchFamily="34" charset="0"/>
                <a:ea typeface="Inter" pitchFamily="34" charset="-122"/>
                <a:cs typeface="Inter" pitchFamily="34" charset="-120"/>
              </a:rPr>
              <a:t>4.70</a:t>
            </a:r>
            <a:endParaRPr lang="en-US" sz="1600" dirty="0"/>
          </a:p>
        </p:txBody>
      </p:sp>
      <p:sp>
        <p:nvSpPr>
          <p:cNvPr id="23" name="Text 21"/>
          <p:cNvSpPr/>
          <p:nvPr/>
        </p:nvSpPr>
        <p:spPr>
          <a:xfrm>
            <a:off x="812800" y="3751579"/>
            <a:ext cx="36626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E-readers (Kindle)</a:t>
            </a:r>
            <a:endParaRPr lang="en-US" sz="1600" dirty="0"/>
          </a:p>
        </p:txBody>
      </p:sp>
      <p:sp>
        <p:nvSpPr>
          <p:cNvPr id="24" name="Text 22"/>
          <p:cNvSpPr/>
          <p:nvPr/>
        </p:nvSpPr>
        <p:spPr>
          <a:xfrm>
            <a:off x="4470400" y="3751579"/>
            <a:ext cx="812800"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6B7178"/>
                </a:solidFill>
                <a:latin typeface="Inter" pitchFamily="34" charset="0"/>
                <a:ea typeface="Inter" pitchFamily="34" charset="-122"/>
                <a:cs typeface="Inter" pitchFamily="34" charset="-120"/>
              </a:rPr>
              <a:t>6</a:t>
            </a:r>
            <a:endParaRPr lang="en-US" sz="1600" dirty="0"/>
          </a:p>
        </p:txBody>
      </p:sp>
      <p:sp>
        <p:nvSpPr>
          <p:cNvPr id="25" name="Shape 23"/>
          <p:cNvSpPr/>
          <p:nvPr/>
        </p:nvSpPr>
        <p:spPr>
          <a:xfrm>
            <a:off x="5435600" y="3766821"/>
            <a:ext cx="825500" cy="254000"/>
          </a:xfrm>
          <a:prstGeom prst="rect">
            <a:avLst/>
          </a:prstGeom>
          <a:solidFill>
            <a:srgbClr val="2457F5"/>
          </a:solidFill>
          <a:ln/>
        </p:spPr>
      </p:sp>
      <p:sp>
        <p:nvSpPr>
          <p:cNvPr id="26" name="Text 24"/>
          <p:cNvSpPr/>
          <p:nvPr/>
        </p:nvSpPr>
        <p:spPr>
          <a:xfrm>
            <a:off x="6362700" y="3751579"/>
            <a:ext cx="667131"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4,092</a:t>
            </a:r>
            <a:endParaRPr lang="en-US" sz="1600" dirty="0"/>
          </a:p>
        </p:txBody>
      </p:sp>
      <p:sp>
        <p:nvSpPr>
          <p:cNvPr id="27" name="Text 25"/>
          <p:cNvSpPr/>
          <p:nvPr/>
        </p:nvSpPr>
        <p:spPr>
          <a:xfrm>
            <a:off x="10502900" y="3751579"/>
            <a:ext cx="876300"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01418"/>
                </a:solidFill>
                <a:latin typeface="Inter" pitchFamily="34" charset="0"/>
                <a:ea typeface="Inter" pitchFamily="34" charset="-122"/>
                <a:cs typeface="Inter" pitchFamily="34" charset="-120"/>
              </a:rPr>
              <a:t>4.75</a:t>
            </a:r>
            <a:endParaRPr lang="en-US" sz="1600" dirty="0"/>
          </a:p>
        </p:txBody>
      </p:sp>
      <p:sp>
        <p:nvSpPr>
          <p:cNvPr id="28" name="Text 26"/>
          <p:cNvSpPr/>
          <p:nvPr/>
        </p:nvSpPr>
        <p:spPr>
          <a:xfrm>
            <a:off x="812800" y="4188464"/>
            <a:ext cx="36626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Accessories</a:t>
            </a:r>
            <a:endParaRPr lang="en-US" sz="1600" dirty="0"/>
          </a:p>
        </p:txBody>
      </p:sp>
      <p:sp>
        <p:nvSpPr>
          <p:cNvPr id="29" name="Text 27"/>
          <p:cNvSpPr/>
          <p:nvPr/>
        </p:nvSpPr>
        <p:spPr>
          <a:xfrm>
            <a:off x="4470400" y="4188464"/>
            <a:ext cx="812800"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6B7178"/>
                </a:solidFill>
                <a:latin typeface="Inter" pitchFamily="34" charset="0"/>
                <a:ea typeface="Inter" pitchFamily="34" charset="-122"/>
                <a:cs typeface="Inter" pitchFamily="34" charset="-120"/>
              </a:rPr>
              <a:t>10</a:t>
            </a:r>
            <a:endParaRPr lang="en-US" sz="1600" dirty="0"/>
          </a:p>
        </p:txBody>
      </p:sp>
      <p:sp>
        <p:nvSpPr>
          <p:cNvPr id="30" name="Shape 28"/>
          <p:cNvSpPr/>
          <p:nvPr/>
        </p:nvSpPr>
        <p:spPr>
          <a:xfrm>
            <a:off x="5435600" y="4203700"/>
            <a:ext cx="114300" cy="254000"/>
          </a:xfrm>
          <a:prstGeom prst="rect">
            <a:avLst/>
          </a:prstGeom>
          <a:solidFill>
            <a:srgbClr val="E8731A"/>
          </a:solidFill>
          <a:ln/>
        </p:spPr>
      </p:sp>
      <p:sp>
        <p:nvSpPr>
          <p:cNvPr id="31" name="Text 29"/>
          <p:cNvSpPr/>
          <p:nvPr/>
        </p:nvSpPr>
        <p:spPr>
          <a:xfrm>
            <a:off x="5651500" y="4188464"/>
            <a:ext cx="43405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555</a:t>
            </a:r>
            <a:endParaRPr lang="en-US" sz="1600" dirty="0"/>
          </a:p>
        </p:txBody>
      </p:sp>
      <p:sp>
        <p:nvSpPr>
          <p:cNvPr id="32" name="Text 30"/>
          <p:cNvSpPr/>
          <p:nvPr/>
        </p:nvSpPr>
        <p:spPr>
          <a:xfrm>
            <a:off x="10502900" y="4188464"/>
            <a:ext cx="876300"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B3560B"/>
                </a:solidFill>
                <a:latin typeface="Inter" pitchFamily="34" charset="0"/>
                <a:ea typeface="Inter" pitchFamily="34" charset="-122"/>
                <a:cs typeface="Inter" pitchFamily="34" charset="-120"/>
              </a:rPr>
              <a:t>4.29</a:t>
            </a:r>
            <a:endParaRPr lang="en-US" sz="1600" dirty="0"/>
          </a:p>
        </p:txBody>
      </p:sp>
      <p:sp>
        <p:nvSpPr>
          <p:cNvPr id="33" name="Text 31"/>
          <p:cNvSpPr/>
          <p:nvPr/>
        </p:nvSpPr>
        <p:spPr>
          <a:xfrm>
            <a:off x="812800" y="4726942"/>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Accessories is the smallest group and the lowest rated. The cases and covers cluster (34 reviews) was merged into it.</a:t>
            </a:r>
            <a:endParaRPr lang="en-US" sz="1600" dirty="0"/>
          </a:p>
        </p:txBody>
      </p:sp>
      <p:sp>
        <p:nvSpPr>
          <p:cNvPr id="34" name="Text 32"/>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Task 2 · Category clusters</a:t>
            </a:r>
            <a:endParaRPr lang="en-US" sz="1200" dirty="0"/>
          </a:p>
        </p:txBody>
      </p:sp>
      <p:sp>
        <p:nvSpPr>
          <p:cNvPr id="35" name="Text 33"/>
          <p:cNvSpPr/>
          <p:nvPr/>
        </p:nvSpPr>
        <p:spPr>
          <a:xfrm>
            <a:off x="9417050" y="6238242"/>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78"/>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7F5"/>
                </a:solidFill>
                <a:latin typeface="Inter" pitchFamily="34" charset="0"/>
                <a:ea typeface="Inter" pitchFamily="34" charset="-122"/>
                <a:cs typeface="Inter" pitchFamily="34" charset="-120"/>
              </a:rPr>
              <a:t>TASK 2 · CATEGORY CLUSTERS</a:t>
            </a:r>
            <a:endParaRPr lang="en-US" sz="1200" dirty="0"/>
          </a:p>
        </p:txBody>
      </p:sp>
      <p:sp>
        <p:nvSpPr>
          <p:cNvPr id="3" name="Text 1"/>
          <p:cNvSpPr/>
          <p:nvPr>
            <p:ph type="title"/>
          </p:nvPr>
        </p:nvSpPr>
        <p:spPr>
          <a:xfrm>
            <a:off x="812800" y="1127764"/>
            <a:ext cx="10883392" cy="50546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01418"/>
                </a:solidFill>
                <a:latin typeface="Inter" pitchFamily="34" charset="0"/>
                <a:ea typeface="Inter" pitchFamily="34" charset="-122"/>
                <a:cs typeface="Inter" pitchFamily="34" charset="-120"/>
              </a:rPr>
              <a:t>The raw product names were wrong</a:t>
            </a:r>
            <a:endParaRPr lang="en-US" sz="3600" dirty="0"/>
          </a:p>
        </p:txBody>
      </p:sp>
      <p:sp>
        <p:nvSpPr>
          <p:cNvPr id="4" name="Shape 2"/>
          <p:cNvSpPr/>
          <p:nvPr/>
        </p:nvSpPr>
        <p:spPr>
          <a:xfrm>
            <a:off x="812800" y="2513329"/>
            <a:ext cx="3318907" cy="0"/>
          </a:xfrm>
          <a:prstGeom prst="line">
            <a:avLst/>
          </a:prstGeom>
          <a:noFill/>
          <a:ln w="25400">
            <a:solidFill>
              <a:srgbClr val="2457F5"/>
            </a:solidFill>
            <a:prstDash val="solid"/>
          </a:ln>
        </p:spPr>
      </p:sp>
      <p:sp>
        <p:nvSpPr>
          <p:cNvPr id="5" name="Text 3"/>
          <p:cNvSpPr/>
          <p:nvPr/>
        </p:nvSpPr>
        <p:spPr>
          <a:xfrm>
            <a:off x="812800" y="2729229"/>
            <a:ext cx="34184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B01J2G4VBG</a:t>
            </a:r>
            <a:endParaRPr lang="en-US" sz="1200" dirty="0"/>
          </a:p>
        </p:txBody>
      </p:sp>
      <p:sp>
        <p:nvSpPr>
          <p:cNvPr id="6" name="Text 4"/>
          <p:cNvSpPr/>
          <p:nvPr/>
        </p:nvSpPr>
        <p:spPr>
          <a:xfrm>
            <a:off x="812800" y="3069592"/>
            <a:ext cx="3418474" cy="289560"/>
          </a:xfrm>
          <a:prstGeom prst="rect">
            <a:avLst/>
          </a:prstGeom>
          <a:noFill/>
          <a:ln/>
        </p:spPr>
        <p:txBody>
          <a:bodyPr wrap="square" lIns="0" tIns="0" rIns="0" bIns="0" rtlCol="0" anchor="t">
            <a:normAutofit/>
          </a:bodyPr>
          <a:lstStyle/>
          <a:p>
            <a:pPr algn="l" indent="0" marL="0">
              <a:lnSpc>
                <a:spcPts val="2080"/>
              </a:lnSpc>
              <a:buNone/>
            </a:pPr>
            <a:r>
              <a:rPr lang="en-US" sz="1600" strike="sngStrike" dirty="0">
                <a:solidFill>
                  <a:srgbClr val="6B7178"/>
                </a:solidFill>
                <a:latin typeface="Inter" pitchFamily="34" charset="0"/>
                <a:ea typeface="Inter" pitchFamily="34" charset="-122"/>
                <a:cs typeface="Inter" pitchFamily="34" charset="-120"/>
              </a:rPr>
              <a:t>All-New Kindle E-reader</a:t>
            </a:r>
            <a:endParaRPr lang="en-US" sz="1600" dirty="0"/>
          </a:p>
        </p:txBody>
      </p:sp>
      <p:pic>
        <p:nvPicPr>
          <p:cNvPr id="7" name="Image 0" descr="arrow-down">    </p:cNvPr>
          <p:cNvPicPr>
            <a:picLocks noChangeAspect="1"/>
          </p:cNvPicPr>
          <p:nvPr/>
        </p:nvPicPr>
        <p:blipFill>
          <a:blip r:embed="rId1"/>
          <a:srcRect l="0" r="0" t="0" b="0"/>
          <a:stretch/>
        </p:blipFill>
        <p:spPr>
          <a:xfrm>
            <a:off x="812800" y="3460750"/>
            <a:ext cx="203200" cy="355600"/>
          </a:xfrm>
          <a:prstGeom prst="rect">
            <a:avLst/>
          </a:prstGeom>
        </p:spPr>
      </p:pic>
      <p:sp>
        <p:nvSpPr>
          <p:cNvPr id="8" name="Text 5"/>
          <p:cNvSpPr/>
          <p:nvPr/>
        </p:nvSpPr>
        <p:spPr>
          <a:xfrm>
            <a:off x="812800" y="3943350"/>
            <a:ext cx="3418474"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1418"/>
                </a:solidFill>
                <a:latin typeface="Inter" pitchFamily="34" charset="0"/>
                <a:ea typeface="Inter" pitchFamily="34" charset="-122"/>
                <a:cs typeface="Inter" pitchFamily="34" charset="-120"/>
              </a:rPr>
              <a:t>Amazon 5W USB charger</a:t>
            </a:r>
            <a:endParaRPr lang="en-US" sz="2200" dirty="0"/>
          </a:p>
        </p:txBody>
      </p:sp>
      <p:sp>
        <p:nvSpPr>
          <p:cNvPr id="9" name="Shape 6"/>
          <p:cNvSpPr/>
          <p:nvPr/>
        </p:nvSpPr>
        <p:spPr>
          <a:xfrm>
            <a:off x="4436507" y="2513329"/>
            <a:ext cx="3318986" cy="0"/>
          </a:xfrm>
          <a:prstGeom prst="line">
            <a:avLst/>
          </a:prstGeom>
          <a:noFill/>
          <a:ln w="25400">
            <a:solidFill>
              <a:srgbClr val="2457F5"/>
            </a:solidFill>
            <a:prstDash val="solid"/>
          </a:ln>
        </p:spPr>
      </p:sp>
      <p:sp>
        <p:nvSpPr>
          <p:cNvPr id="10" name="Text 7"/>
          <p:cNvSpPr/>
          <p:nvPr/>
        </p:nvSpPr>
        <p:spPr>
          <a:xfrm>
            <a:off x="4436507" y="2729229"/>
            <a:ext cx="34185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B00IOYAM4I</a:t>
            </a:r>
            <a:endParaRPr lang="en-US" sz="1200" dirty="0"/>
          </a:p>
        </p:txBody>
      </p:sp>
      <p:sp>
        <p:nvSpPr>
          <p:cNvPr id="11" name="Text 8"/>
          <p:cNvSpPr/>
          <p:nvPr/>
        </p:nvSpPr>
        <p:spPr>
          <a:xfrm>
            <a:off x="4436507" y="3069592"/>
            <a:ext cx="3418556" cy="289560"/>
          </a:xfrm>
          <a:prstGeom prst="rect">
            <a:avLst/>
          </a:prstGeom>
          <a:noFill/>
          <a:ln/>
        </p:spPr>
        <p:txBody>
          <a:bodyPr wrap="square" lIns="0" tIns="0" rIns="0" bIns="0" rtlCol="0" anchor="t">
            <a:normAutofit/>
          </a:bodyPr>
          <a:lstStyle/>
          <a:p>
            <a:pPr algn="l" indent="0" marL="0">
              <a:lnSpc>
                <a:spcPts val="2080"/>
              </a:lnSpc>
              <a:buNone/>
            </a:pPr>
            <a:r>
              <a:rPr lang="en-US" sz="1600" strike="sngStrike" dirty="0">
                <a:solidFill>
                  <a:srgbClr val="6B7178"/>
                </a:solidFill>
                <a:latin typeface="Inter" pitchFamily="34" charset="0"/>
                <a:ea typeface="Inter" pitchFamily="34" charset="-122"/>
                <a:cs typeface="Inter" pitchFamily="34" charset="-120"/>
              </a:rPr>
              <a:t>Kindle Fire 16 GB 7-inch tablet</a:t>
            </a:r>
            <a:endParaRPr lang="en-US" sz="1600" dirty="0"/>
          </a:p>
        </p:txBody>
      </p:sp>
      <p:pic>
        <p:nvPicPr>
          <p:cNvPr id="12" name="Image 1" descr="arrow-down">    </p:cNvPr>
          <p:cNvPicPr>
            <a:picLocks noChangeAspect="1"/>
          </p:cNvPicPr>
          <p:nvPr/>
        </p:nvPicPr>
        <p:blipFill>
          <a:blip r:embed="rId2"/>
          <a:srcRect l="0" r="0" t="0" b="0"/>
          <a:stretch/>
        </p:blipFill>
        <p:spPr>
          <a:xfrm>
            <a:off x="4436507" y="3460750"/>
            <a:ext cx="203200" cy="355600"/>
          </a:xfrm>
          <a:prstGeom prst="rect">
            <a:avLst/>
          </a:prstGeom>
        </p:spPr>
      </p:pic>
      <p:sp>
        <p:nvSpPr>
          <p:cNvPr id="13" name="Text 9"/>
          <p:cNvSpPr/>
          <p:nvPr/>
        </p:nvSpPr>
        <p:spPr>
          <a:xfrm>
            <a:off x="4436507" y="3943350"/>
            <a:ext cx="341855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1418"/>
                </a:solidFill>
                <a:latin typeface="Inter" pitchFamily="34" charset="0"/>
                <a:ea typeface="Inter" pitchFamily="34" charset="-122"/>
                <a:cs typeface="Inter" pitchFamily="34" charset="-120"/>
              </a:rPr>
              <a:t>Kindle Voyage e-reader</a:t>
            </a:r>
            <a:endParaRPr lang="en-US" sz="2200" dirty="0"/>
          </a:p>
        </p:txBody>
      </p:sp>
      <p:sp>
        <p:nvSpPr>
          <p:cNvPr id="14" name="Shape 10"/>
          <p:cNvSpPr/>
          <p:nvPr/>
        </p:nvSpPr>
        <p:spPr>
          <a:xfrm>
            <a:off x="8060293" y="2513329"/>
            <a:ext cx="3318907" cy="0"/>
          </a:xfrm>
          <a:prstGeom prst="line">
            <a:avLst/>
          </a:prstGeom>
          <a:noFill/>
          <a:ln w="25400">
            <a:solidFill>
              <a:srgbClr val="2457F5"/>
            </a:solidFill>
            <a:prstDash val="solid"/>
          </a:ln>
        </p:spPr>
      </p:sp>
      <p:sp>
        <p:nvSpPr>
          <p:cNvPr id="15" name="Text 11"/>
          <p:cNvSpPr/>
          <p:nvPr/>
        </p:nvSpPr>
        <p:spPr>
          <a:xfrm>
            <a:off x="8060293" y="2729229"/>
            <a:ext cx="34184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B00L9EPT8O + B01E6AO69U</a:t>
            </a:r>
            <a:endParaRPr lang="en-US" sz="1200" dirty="0"/>
          </a:p>
        </p:txBody>
      </p:sp>
      <p:sp>
        <p:nvSpPr>
          <p:cNvPr id="16" name="Text 12"/>
          <p:cNvSpPr/>
          <p:nvPr/>
        </p:nvSpPr>
        <p:spPr>
          <a:xfrm>
            <a:off x="8060293" y="3069592"/>
            <a:ext cx="3418474" cy="289560"/>
          </a:xfrm>
          <a:prstGeom prst="rect">
            <a:avLst/>
          </a:prstGeom>
          <a:noFill/>
          <a:ln/>
        </p:spPr>
        <p:txBody>
          <a:bodyPr wrap="square" lIns="0" tIns="0" rIns="0" bIns="0" rtlCol="0" anchor="t">
            <a:normAutofit/>
          </a:bodyPr>
          <a:lstStyle/>
          <a:p>
            <a:pPr algn="l" indent="0" marL="0">
              <a:lnSpc>
                <a:spcPts val="2080"/>
              </a:lnSpc>
              <a:buNone/>
            </a:pPr>
            <a:r>
              <a:rPr lang="en-US" sz="1600" strike="sngStrike" dirty="0">
                <a:solidFill>
                  <a:srgbClr val="6B7178"/>
                </a:solidFill>
                <a:latin typeface="Inter" pitchFamily="34" charset="0"/>
                <a:ea typeface="Inter" pitchFamily="34" charset="-122"/>
                <a:cs typeface="Inter" pitchFamily="34" charset="-120"/>
              </a:rPr>
              <a:t>Echo (White) or Amazon Fire TV</a:t>
            </a:r>
            <a:endParaRPr lang="en-US" sz="1600" dirty="0"/>
          </a:p>
        </p:txBody>
      </p:sp>
      <p:pic>
        <p:nvPicPr>
          <p:cNvPr id="17" name="Image 2" descr="arrow-down">    </p:cNvPr>
          <p:cNvPicPr>
            <a:picLocks noChangeAspect="1"/>
          </p:cNvPicPr>
          <p:nvPr/>
        </p:nvPicPr>
        <p:blipFill>
          <a:blip r:embed="rId3"/>
          <a:srcRect l="0" r="0" t="0" b="0"/>
          <a:stretch/>
        </p:blipFill>
        <p:spPr>
          <a:xfrm>
            <a:off x="8060293" y="3460750"/>
            <a:ext cx="203200" cy="355600"/>
          </a:xfrm>
          <a:prstGeom prst="rect">
            <a:avLst/>
          </a:prstGeom>
        </p:spPr>
      </p:pic>
      <p:sp>
        <p:nvSpPr>
          <p:cNvPr id="18" name="Text 13"/>
          <p:cNvSpPr/>
          <p:nvPr/>
        </p:nvSpPr>
        <p:spPr>
          <a:xfrm>
            <a:off x="8060293" y="3943350"/>
            <a:ext cx="3418474"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1418"/>
                </a:solidFill>
                <a:latin typeface="Inter" pitchFamily="34" charset="0"/>
                <a:ea typeface="Inter" pitchFamily="34" charset="-122"/>
                <a:cs typeface="Inter" pitchFamily="34" charset="-120"/>
              </a:rPr>
              <a:t>Echo and Echo Dot speakers</a:t>
            </a:r>
            <a:endParaRPr lang="en-US" sz="2200" dirty="0"/>
          </a:p>
        </p:txBody>
      </p:sp>
      <p:sp>
        <p:nvSpPr>
          <p:cNvPr id="19" name="Shape 14"/>
          <p:cNvSpPr/>
          <p:nvPr/>
        </p:nvSpPr>
        <p:spPr>
          <a:xfrm>
            <a:off x="831850" y="5506721"/>
            <a:ext cx="0" cy="335280"/>
          </a:xfrm>
          <a:prstGeom prst="line">
            <a:avLst/>
          </a:prstGeom>
          <a:noFill/>
          <a:ln w="38100">
            <a:solidFill>
              <a:srgbClr val="2457F5"/>
            </a:solidFill>
            <a:prstDash val="solid"/>
          </a:ln>
        </p:spPr>
      </p:sp>
      <p:sp>
        <p:nvSpPr>
          <p:cNvPr id="20" name="Text 15"/>
          <p:cNvSpPr/>
          <p:nvPr/>
        </p:nvSpPr>
        <p:spPr>
          <a:xfrm>
            <a:off x="1051560" y="5532121"/>
            <a:ext cx="1063746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The clusters rely on categories and review text. A verified name table, built by hand, feeds Task 3.</a:t>
            </a:r>
            <a:endParaRPr lang="en-US" sz="1600" dirty="0"/>
          </a:p>
        </p:txBody>
      </p:sp>
      <p:sp>
        <p:nvSpPr>
          <p:cNvPr id="21" name="Text 16"/>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Task 2 · Category clusters</a:t>
            </a:r>
            <a:endParaRPr lang="en-US" sz="1200" dirty="0"/>
          </a:p>
        </p:txBody>
      </p:sp>
      <p:sp>
        <p:nvSpPr>
          <p:cNvPr id="22" name="Text 17"/>
          <p:cNvSpPr/>
          <p:nvPr/>
        </p:nvSpPr>
        <p:spPr>
          <a:xfrm>
            <a:off x="9417050" y="6238242"/>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78"/>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7F5"/>
                </a:solidFill>
                <a:latin typeface="Inter" pitchFamily="34" charset="0"/>
                <a:ea typeface="Inter" pitchFamily="34" charset="-122"/>
                <a:cs typeface="Inter" pitchFamily="34" charset="-120"/>
              </a:rPr>
              <a:t>TASK 3 · GENERATED GUIDES</a:t>
            </a:r>
            <a:endParaRPr lang="en-US" sz="1200" dirty="0"/>
          </a:p>
        </p:txBody>
      </p:sp>
      <p:sp>
        <p:nvSpPr>
          <p:cNvPr id="3" name="Text 1"/>
          <p:cNvSpPr/>
          <p:nvPr>
            <p:ph type="title"/>
          </p:nvPr>
        </p:nvSpPr>
        <p:spPr>
          <a:xfrm>
            <a:off x="812800" y="1127764"/>
            <a:ext cx="10883392" cy="50546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01418"/>
                </a:solidFill>
                <a:latin typeface="Inter" pitchFamily="34" charset="0"/>
                <a:ea typeface="Inter" pitchFamily="34" charset="-122"/>
                <a:cs typeface="Inter" pitchFamily="34" charset="-120"/>
              </a:rPr>
              <a:t>Facts first, then writing</a:t>
            </a:r>
            <a:endParaRPr lang="en-US" sz="3600" dirty="0"/>
          </a:p>
        </p:txBody>
      </p:sp>
      <p:sp>
        <p:nvSpPr>
          <p:cNvPr id="4" name="Shape 2"/>
          <p:cNvSpPr/>
          <p:nvPr/>
        </p:nvSpPr>
        <p:spPr>
          <a:xfrm>
            <a:off x="812800" y="2679700"/>
            <a:ext cx="711200" cy="711200"/>
          </a:xfrm>
          <a:prstGeom prst="roundRect">
            <a:avLst>
              <a:gd name="adj" fmla="val 50000"/>
            </a:avLst>
          </a:prstGeom>
          <a:solidFill>
            <a:srgbClr val="E6ECFD"/>
          </a:solidFill>
          <a:ln/>
        </p:spPr>
      </p:sp>
      <p:pic>
        <p:nvPicPr>
          <p:cNvPr id="5" name="Image 0" descr="Database">    </p:cNvPr>
          <p:cNvPicPr>
            <a:picLocks noChangeAspect="1"/>
          </p:cNvPicPr>
          <p:nvPr/>
        </p:nvPicPr>
        <p:blipFill>
          <a:blip r:embed="rId1"/>
          <a:srcRect l="0" r="0" t="0" b="0"/>
          <a:stretch/>
        </p:blipFill>
        <p:spPr>
          <a:xfrm>
            <a:off x="1003300" y="2870200"/>
            <a:ext cx="330200" cy="330200"/>
          </a:xfrm>
          <a:prstGeom prst="rect">
            <a:avLst/>
          </a:prstGeom>
        </p:spPr>
      </p:pic>
      <p:sp>
        <p:nvSpPr>
          <p:cNvPr id="6" name="Text 3"/>
          <p:cNvSpPr/>
          <p:nvPr/>
        </p:nvSpPr>
        <p:spPr>
          <a:xfrm>
            <a:off x="812800" y="3492500"/>
            <a:ext cx="99622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418"/>
                </a:solidFill>
                <a:latin typeface="Inter" pitchFamily="34" charset="0"/>
                <a:ea typeface="Inter" pitchFamily="34" charset="-122"/>
                <a:cs typeface="Inter" pitchFamily="34" charset="-120"/>
              </a:rPr>
              <a:t>Reviews</a:t>
            </a:r>
            <a:endParaRPr lang="en-US" sz="1600" dirty="0"/>
          </a:p>
        </p:txBody>
      </p:sp>
      <p:sp>
        <p:nvSpPr>
          <p:cNvPr id="7" name="Text 4"/>
          <p:cNvSpPr/>
          <p:nvPr/>
        </p:nvSpPr>
        <p:spPr>
          <a:xfrm>
            <a:off x="812800" y="3837942"/>
            <a:ext cx="224993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34,597 reviews, grouped by product</a:t>
            </a:r>
            <a:endParaRPr lang="en-US" sz="1600" dirty="0"/>
          </a:p>
        </p:txBody>
      </p:sp>
      <p:pic>
        <p:nvPicPr>
          <p:cNvPr id="8" name="Image 1" descr="arrow-right">    </p:cNvPr>
          <p:cNvPicPr>
            <a:picLocks noChangeAspect="1"/>
          </p:cNvPicPr>
          <p:nvPr/>
        </p:nvPicPr>
        <p:blipFill>
          <a:blip r:embed="rId2"/>
          <a:srcRect l="0" r="0" t="0" b="0"/>
          <a:stretch/>
        </p:blipFill>
        <p:spPr>
          <a:xfrm>
            <a:off x="3098800" y="2933700"/>
            <a:ext cx="406400" cy="203200"/>
          </a:xfrm>
          <a:prstGeom prst="rect">
            <a:avLst/>
          </a:prstGeom>
        </p:spPr>
      </p:pic>
      <p:sp>
        <p:nvSpPr>
          <p:cNvPr id="9" name="Shape 5"/>
          <p:cNvSpPr/>
          <p:nvPr/>
        </p:nvSpPr>
        <p:spPr>
          <a:xfrm>
            <a:off x="3606800" y="2679700"/>
            <a:ext cx="711200" cy="711200"/>
          </a:xfrm>
          <a:prstGeom prst="roundRect">
            <a:avLst>
              <a:gd name="adj" fmla="val 50000"/>
            </a:avLst>
          </a:prstGeom>
          <a:solidFill>
            <a:srgbClr val="E6ECFD"/>
          </a:solidFill>
          <a:ln/>
        </p:spPr>
      </p:sp>
      <p:pic>
        <p:nvPicPr>
          <p:cNvPr id="10" name="Image 2" descr="Chart">    </p:cNvPr>
          <p:cNvPicPr>
            <a:picLocks noChangeAspect="1"/>
          </p:cNvPicPr>
          <p:nvPr/>
        </p:nvPicPr>
        <p:blipFill>
          <a:blip r:embed="rId3"/>
          <a:srcRect l="0" r="0" t="0" b="0"/>
          <a:stretch/>
        </p:blipFill>
        <p:spPr>
          <a:xfrm>
            <a:off x="3797300" y="2870200"/>
            <a:ext cx="330200" cy="330200"/>
          </a:xfrm>
          <a:prstGeom prst="rect">
            <a:avLst/>
          </a:prstGeom>
        </p:spPr>
      </p:pic>
      <p:sp>
        <p:nvSpPr>
          <p:cNvPr id="11" name="Text 6"/>
          <p:cNvSpPr/>
          <p:nvPr/>
        </p:nvSpPr>
        <p:spPr>
          <a:xfrm>
            <a:off x="3606800" y="3492500"/>
            <a:ext cx="123939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418"/>
                </a:solidFill>
                <a:latin typeface="Inter" pitchFamily="34" charset="0"/>
                <a:ea typeface="Inter" pitchFamily="34" charset="-122"/>
                <a:cs typeface="Inter" pitchFamily="34" charset="-120"/>
              </a:rPr>
              <a:t>Fact sheet</a:t>
            </a:r>
            <a:endParaRPr lang="en-US" sz="1600" dirty="0"/>
          </a:p>
        </p:txBody>
      </p:sp>
      <p:sp>
        <p:nvSpPr>
          <p:cNvPr id="12" name="Text 7"/>
          <p:cNvSpPr/>
          <p:nvPr/>
        </p:nvSpPr>
        <p:spPr>
          <a:xfrm>
            <a:off x="3606800" y="3837942"/>
            <a:ext cx="224993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Ranks, ratings, complaints, praise</a:t>
            </a:r>
            <a:endParaRPr lang="en-US" sz="1600" dirty="0"/>
          </a:p>
        </p:txBody>
      </p:sp>
      <p:pic>
        <p:nvPicPr>
          <p:cNvPr id="13" name="Image 3" descr="arrow-right">    </p:cNvPr>
          <p:cNvPicPr>
            <a:picLocks noChangeAspect="1"/>
          </p:cNvPicPr>
          <p:nvPr/>
        </p:nvPicPr>
        <p:blipFill>
          <a:blip r:embed="rId4"/>
          <a:srcRect l="0" r="0" t="0" b="0"/>
          <a:stretch/>
        </p:blipFill>
        <p:spPr>
          <a:xfrm>
            <a:off x="5892800" y="2933700"/>
            <a:ext cx="406400" cy="203200"/>
          </a:xfrm>
          <a:prstGeom prst="rect">
            <a:avLst/>
          </a:prstGeom>
        </p:spPr>
      </p:pic>
      <p:sp>
        <p:nvSpPr>
          <p:cNvPr id="14" name="Shape 8"/>
          <p:cNvSpPr/>
          <p:nvPr/>
        </p:nvSpPr>
        <p:spPr>
          <a:xfrm>
            <a:off x="6400800" y="2679700"/>
            <a:ext cx="711200" cy="711200"/>
          </a:xfrm>
          <a:prstGeom prst="roundRect">
            <a:avLst>
              <a:gd name="adj" fmla="val 50000"/>
            </a:avLst>
          </a:prstGeom>
          <a:solidFill>
            <a:srgbClr val="E6ECFD"/>
          </a:solidFill>
          <a:ln/>
        </p:spPr>
      </p:sp>
      <p:pic>
        <p:nvPicPr>
          <p:cNvPr id="15" name="Image 4" descr="Chat">    </p:cNvPr>
          <p:cNvPicPr>
            <a:picLocks noChangeAspect="1"/>
          </p:cNvPicPr>
          <p:nvPr/>
        </p:nvPicPr>
        <p:blipFill>
          <a:blip r:embed="rId5"/>
          <a:srcRect l="0" r="0" t="0" b="0"/>
          <a:stretch/>
        </p:blipFill>
        <p:spPr>
          <a:xfrm>
            <a:off x="6591300" y="2870200"/>
            <a:ext cx="330200" cy="330200"/>
          </a:xfrm>
          <a:prstGeom prst="rect">
            <a:avLst/>
          </a:prstGeom>
        </p:spPr>
      </p:pic>
      <p:sp>
        <p:nvSpPr>
          <p:cNvPr id="16" name="Text 9"/>
          <p:cNvSpPr/>
          <p:nvPr/>
        </p:nvSpPr>
        <p:spPr>
          <a:xfrm>
            <a:off x="6400800" y="3492500"/>
            <a:ext cx="74266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418"/>
                </a:solidFill>
                <a:latin typeface="Inter" pitchFamily="34" charset="0"/>
                <a:ea typeface="Inter" pitchFamily="34" charset="-122"/>
                <a:cs typeface="Inter" pitchFamily="34" charset="-120"/>
              </a:rPr>
              <a:t>Writer</a:t>
            </a:r>
            <a:endParaRPr lang="en-US" sz="1600" dirty="0"/>
          </a:p>
        </p:txBody>
      </p:sp>
      <p:sp>
        <p:nvSpPr>
          <p:cNvPr id="17" name="Text 10"/>
          <p:cNvSpPr/>
          <p:nvPr/>
        </p:nvSpPr>
        <p:spPr>
          <a:xfrm>
            <a:off x="6400800" y="3837942"/>
            <a:ext cx="224993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A 3B Qwen model writes the article</a:t>
            </a:r>
            <a:endParaRPr lang="en-US" sz="1600" dirty="0"/>
          </a:p>
        </p:txBody>
      </p:sp>
      <p:pic>
        <p:nvPicPr>
          <p:cNvPr id="18" name="Image 5" descr="arrow-right">    </p:cNvPr>
          <p:cNvPicPr>
            <a:picLocks noChangeAspect="1"/>
          </p:cNvPicPr>
          <p:nvPr/>
        </p:nvPicPr>
        <p:blipFill>
          <a:blip r:embed="rId6"/>
          <a:srcRect l="0" r="0" t="0" b="0"/>
          <a:stretch/>
        </p:blipFill>
        <p:spPr>
          <a:xfrm>
            <a:off x="8686800" y="2933700"/>
            <a:ext cx="406400" cy="203200"/>
          </a:xfrm>
          <a:prstGeom prst="rect">
            <a:avLst/>
          </a:prstGeom>
        </p:spPr>
      </p:pic>
      <p:sp>
        <p:nvSpPr>
          <p:cNvPr id="19" name="Shape 11"/>
          <p:cNvSpPr/>
          <p:nvPr/>
        </p:nvSpPr>
        <p:spPr>
          <a:xfrm>
            <a:off x="9194800" y="2679700"/>
            <a:ext cx="711200" cy="711200"/>
          </a:xfrm>
          <a:prstGeom prst="roundRect">
            <a:avLst>
              <a:gd name="adj" fmla="val 50000"/>
            </a:avLst>
          </a:prstGeom>
          <a:solidFill>
            <a:srgbClr val="E6ECFD"/>
          </a:solidFill>
          <a:ln/>
        </p:spPr>
      </p:sp>
      <p:pic>
        <p:nvPicPr>
          <p:cNvPr id="20" name="Image 6" descr="Check">    </p:cNvPr>
          <p:cNvPicPr>
            <a:picLocks noChangeAspect="1"/>
          </p:cNvPicPr>
          <p:nvPr/>
        </p:nvPicPr>
        <p:blipFill>
          <a:blip r:embed="rId7"/>
          <a:srcRect l="0" r="0" t="0" b="0"/>
          <a:stretch/>
        </p:blipFill>
        <p:spPr>
          <a:xfrm>
            <a:off x="9385300" y="2870200"/>
            <a:ext cx="330200" cy="330200"/>
          </a:xfrm>
          <a:prstGeom prst="rect">
            <a:avLst/>
          </a:prstGeom>
        </p:spPr>
      </p:pic>
      <p:sp>
        <p:nvSpPr>
          <p:cNvPr id="21" name="Text 12"/>
          <p:cNvSpPr/>
          <p:nvPr/>
        </p:nvSpPr>
        <p:spPr>
          <a:xfrm>
            <a:off x="9194800" y="3492500"/>
            <a:ext cx="89896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418"/>
                </a:solidFill>
                <a:latin typeface="Inter" pitchFamily="34" charset="0"/>
                <a:ea typeface="Inter" pitchFamily="34" charset="-122"/>
                <a:cs typeface="Inter" pitchFamily="34" charset="-120"/>
              </a:rPr>
              <a:t>Checks</a:t>
            </a:r>
            <a:endParaRPr lang="en-US" sz="1600" dirty="0"/>
          </a:p>
        </p:txBody>
      </p:sp>
      <p:sp>
        <p:nvSpPr>
          <p:cNvPr id="22" name="Text 13"/>
          <p:cNvSpPr/>
          <p:nvPr/>
        </p:nvSpPr>
        <p:spPr>
          <a:xfrm>
            <a:off x="9194800" y="3837942"/>
            <a:ext cx="224993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Numbers, names, length</a:t>
            </a:r>
            <a:endParaRPr lang="en-US" sz="1600" dirty="0"/>
          </a:p>
        </p:txBody>
      </p:sp>
      <p:sp>
        <p:nvSpPr>
          <p:cNvPr id="23" name="Text 14"/>
          <p:cNvSpPr/>
          <p:nvPr/>
        </p:nvSpPr>
        <p:spPr>
          <a:xfrm>
            <a:off x="812800" y="5478779"/>
            <a:ext cx="10883392" cy="388620"/>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101418"/>
                </a:solidFill>
                <a:latin typeface="Inter" pitchFamily="34" charset="0"/>
                <a:ea typeface="Inter" pitchFamily="34" charset="-122"/>
                <a:cs typeface="Inter" pitchFamily="34" charset="-120"/>
              </a:rPr>
              <a:t>Every number comes from code. The model only writes.</a:t>
            </a:r>
            <a:endParaRPr lang="en-US" sz="2200" dirty="0"/>
          </a:p>
        </p:txBody>
      </p:sp>
      <p:sp>
        <p:nvSpPr>
          <p:cNvPr id="24" name="Text 15"/>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Task 3 · Generated guides</a:t>
            </a:r>
            <a:endParaRPr lang="en-US" sz="1200" dirty="0"/>
          </a:p>
        </p:txBody>
      </p:sp>
      <p:sp>
        <p:nvSpPr>
          <p:cNvPr id="25" name="Text 16"/>
          <p:cNvSpPr/>
          <p:nvPr/>
        </p:nvSpPr>
        <p:spPr>
          <a:xfrm>
            <a:off x="9417050" y="6238242"/>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78"/>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7F5"/>
                </a:solidFill>
                <a:latin typeface="Inter" pitchFamily="34" charset="0"/>
                <a:ea typeface="Inter" pitchFamily="34" charset="-122"/>
                <a:cs typeface="Inter" pitchFamily="34" charset="-120"/>
              </a:rPr>
              <a:t>TASK 3 · GENERATED GUIDES</a:t>
            </a:r>
            <a:endParaRPr lang="en-US" sz="1200" dirty="0"/>
          </a:p>
        </p:txBody>
      </p:sp>
      <p:sp>
        <p:nvSpPr>
          <p:cNvPr id="3" name="Text 1"/>
          <p:cNvSpPr/>
          <p:nvPr>
            <p:ph type="title"/>
          </p:nvPr>
        </p:nvSpPr>
        <p:spPr>
          <a:xfrm>
            <a:off x="812800" y="1127764"/>
            <a:ext cx="10883392" cy="50546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01418"/>
                </a:solidFill>
                <a:latin typeface="Inter" pitchFamily="34" charset="0"/>
                <a:ea typeface="Inter" pitchFamily="34" charset="-122"/>
                <a:cs typeface="Inter" pitchFamily="34" charset="-120"/>
              </a:rPr>
              <a:t>What the first drafts taught us</a:t>
            </a:r>
            <a:endParaRPr lang="en-US" sz="3600" dirty="0"/>
          </a:p>
        </p:txBody>
      </p:sp>
      <p:sp>
        <p:nvSpPr>
          <p:cNvPr id="4" name="Text 2"/>
          <p:cNvSpPr/>
          <p:nvPr/>
        </p:nvSpPr>
        <p:spPr>
          <a:xfrm>
            <a:off x="812800" y="1861821"/>
            <a:ext cx="45783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7178"/>
                </a:solidFill>
                <a:latin typeface="Inter" pitchFamily="34" charset="0"/>
                <a:ea typeface="Inter" pitchFamily="34" charset="-122"/>
                <a:cs typeface="Inter" pitchFamily="34" charset="-120"/>
              </a:rPr>
              <a:t>IN THE DRAFT</a:t>
            </a:r>
            <a:endParaRPr lang="en-US" sz="1200" dirty="0"/>
          </a:p>
        </p:txBody>
      </p:sp>
      <p:sp>
        <p:nvSpPr>
          <p:cNvPr id="5" name="Text 3"/>
          <p:cNvSpPr/>
          <p:nvPr/>
        </p:nvSpPr>
        <p:spPr>
          <a:xfrm>
            <a:off x="5461000" y="1861821"/>
            <a:ext cx="609574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7F5"/>
                </a:solidFill>
                <a:latin typeface="Inter" pitchFamily="34" charset="0"/>
                <a:ea typeface="Inter" pitchFamily="34" charset="-122"/>
                <a:cs typeface="Inter" pitchFamily="34" charset="-120"/>
              </a:rPr>
              <a:t>THE FIX</a:t>
            </a:r>
            <a:endParaRPr lang="en-US" sz="1200" dirty="0"/>
          </a:p>
        </p:txBody>
      </p:sp>
      <p:sp>
        <p:nvSpPr>
          <p:cNvPr id="6" name="Shape 4"/>
          <p:cNvSpPr/>
          <p:nvPr/>
        </p:nvSpPr>
        <p:spPr>
          <a:xfrm>
            <a:off x="812800" y="2183129"/>
            <a:ext cx="10566400" cy="0"/>
          </a:xfrm>
          <a:prstGeom prst="line">
            <a:avLst/>
          </a:prstGeom>
          <a:noFill/>
          <a:ln w="12700">
            <a:solidFill>
              <a:srgbClr val="D9DBDD"/>
            </a:solidFill>
            <a:prstDash val="solid"/>
          </a:ln>
        </p:spPr>
      </p:sp>
      <p:sp>
        <p:nvSpPr>
          <p:cNvPr id="7" name="Text 5"/>
          <p:cNvSpPr/>
          <p:nvPr/>
        </p:nvSpPr>
        <p:spPr>
          <a:xfrm>
            <a:off x="812800" y="2313942"/>
            <a:ext cx="45783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An article stopped mid-sentence</a:t>
            </a:r>
            <a:endParaRPr lang="en-US" sz="1600" dirty="0"/>
          </a:p>
        </p:txBody>
      </p:sp>
      <p:pic>
        <p:nvPicPr>
          <p:cNvPr id="8" name="Image 0" descr="arrow-right">    </p:cNvPr>
          <p:cNvPicPr>
            <a:picLocks noChangeAspect="1"/>
          </p:cNvPicPr>
          <p:nvPr/>
        </p:nvPicPr>
        <p:blipFill>
          <a:blip r:embed="rId1"/>
          <a:srcRect l="0" r="0" t="0" b="0"/>
          <a:stretch/>
        </p:blipFill>
        <p:spPr>
          <a:xfrm>
            <a:off x="5461000" y="2367279"/>
            <a:ext cx="355600" cy="177800"/>
          </a:xfrm>
          <a:prstGeom prst="rect">
            <a:avLst/>
          </a:prstGeom>
        </p:spPr>
      </p:pic>
      <p:sp>
        <p:nvSpPr>
          <p:cNvPr id="9" name="Text 6"/>
          <p:cNvSpPr/>
          <p:nvPr/>
        </p:nvSpPr>
        <p:spPr>
          <a:xfrm>
            <a:off x="6019800" y="2313942"/>
            <a:ext cx="552018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01418"/>
                </a:solidFill>
                <a:latin typeface="Inter" pitchFamily="34" charset="0"/>
                <a:ea typeface="Inter" pitchFamily="34" charset="-122"/>
                <a:cs typeface="Inter" pitchFamily="34" charset="-120"/>
              </a:rPr>
              <a:t>Raised the token limit to 900</a:t>
            </a:r>
            <a:endParaRPr lang="en-US" sz="1600" dirty="0"/>
          </a:p>
        </p:txBody>
      </p:sp>
      <p:sp>
        <p:nvSpPr>
          <p:cNvPr id="10" name="Shape 7"/>
          <p:cNvSpPr/>
          <p:nvPr/>
        </p:nvSpPr>
        <p:spPr>
          <a:xfrm>
            <a:off x="812800" y="2706371"/>
            <a:ext cx="10566400" cy="0"/>
          </a:xfrm>
          <a:prstGeom prst="line">
            <a:avLst/>
          </a:prstGeom>
          <a:noFill/>
          <a:ln w="12700">
            <a:solidFill>
              <a:srgbClr val="D9DBDD"/>
            </a:solidFill>
            <a:prstDash val="solid"/>
          </a:ln>
        </p:spPr>
      </p:sp>
      <p:sp>
        <p:nvSpPr>
          <p:cNvPr id="11" name="Text 8"/>
          <p:cNvSpPr/>
          <p:nvPr/>
        </p:nvSpPr>
        <p:spPr>
          <a:xfrm>
            <a:off x="812800" y="2837179"/>
            <a:ext cx="45783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Invented a product (Echo Dot Plus) and a feature</a:t>
            </a:r>
            <a:endParaRPr lang="en-US" sz="1600" dirty="0"/>
          </a:p>
        </p:txBody>
      </p:sp>
      <p:pic>
        <p:nvPicPr>
          <p:cNvPr id="12" name="Image 1" descr="arrow-right">    </p:cNvPr>
          <p:cNvPicPr>
            <a:picLocks noChangeAspect="1"/>
          </p:cNvPicPr>
          <p:nvPr/>
        </p:nvPicPr>
        <p:blipFill>
          <a:blip r:embed="rId2"/>
          <a:srcRect l="0" r="0" t="0" b="0"/>
          <a:stretch/>
        </p:blipFill>
        <p:spPr>
          <a:xfrm>
            <a:off x="5461000" y="3032764"/>
            <a:ext cx="355600" cy="177800"/>
          </a:xfrm>
          <a:prstGeom prst="rect">
            <a:avLst/>
          </a:prstGeom>
        </p:spPr>
      </p:pic>
      <p:sp>
        <p:nvSpPr>
          <p:cNvPr id="13" name="Text 9"/>
          <p:cNvSpPr/>
          <p:nvPr/>
        </p:nvSpPr>
        <p:spPr>
          <a:xfrm>
            <a:off x="6019800" y="2979421"/>
            <a:ext cx="552018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01418"/>
                </a:solidFill>
                <a:latin typeface="Inter" pitchFamily="34" charset="0"/>
                <a:ea typeface="Inter" pitchFamily="34" charset="-122"/>
                <a:cs typeface="Inter" pitchFamily="34" charset="-120"/>
              </a:rPr>
              <a:t>Stricter rules, plus a check for unknown names</a:t>
            </a:r>
            <a:endParaRPr lang="en-US" sz="1600" dirty="0"/>
          </a:p>
        </p:txBody>
      </p:sp>
      <p:sp>
        <p:nvSpPr>
          <p:cNvPr id="14" name="Shape 10"/>
          <p:cNvSpPr/>
          <p:nvPr/>
        </p:nvSpPr>
        <p:spPr>
          <a:xfrm>
            <a:off x="812800" y="3514092"/>
            <a:ext cx="10566400" cy="0"/>
          </a:xfrm>
          <a:prstGeom prst="line">
            <a:avLst/>
          </a:prstGeom>
          <a:noFill/>
          <a:ln w="12700">
            <a:solidFill>
              <a:srgbClr val="D9DBDD"/>
            </a:solidFill>
            <a:prstDash val="solid"/>
          </a:ln>
        </p:spPr>
      </p:sp>
      <p:sp>
        <p:nvSpPr>
          <p:cNvPr id="15" name="Text 11"/>
          <p:cNvSpPr/>
          <p:nvPr/>
        </p:nvSpPr>
        <p:spPr>
          <a:xfrm>
            <a:off x="812800" y="3644900"/>
            <a:ext cx="45783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Forced a worst product out of 4.6-star products</a:t>
            </a:r>
            <a:endParaRPr lang="en-US" sz="1600" dirty="0"/>
          </a:p>
        </p:txBody>
      </p:sp>
      <p:pic>
        <p:nvPicPr>
          <p:cNvPr id="16" name="Image 2" descr="arrow-right">    </p:cNvPr>
          <p:cNvPicPr>
            <a:picLocks noChangeAspect="1"/>
          </p:cNvPicPr>
          <p:nvPr/>
        </p:nvPicPr>
        <p:blipFill>
          <a:blip r:embed="rId3"/>
          <a:srcRect l="0" r="0" t="0" b="0"/>
          <a:stretch/>
        </p:blipFill>
        <p:spPr>
          <a:xfrm>
            <a:off x="5461000" y="3840479"/>
            <a:ext cx="355600" cy="177800"/>
          </a:xfrm>
          <a:prstGeom prst="rect">
            <a:avLst/>
          </a:prstGeom>
        </p:spPr>
      </p:pic>
      <p:sp>
        <p:nvSpPr>
          <p:cNvPr id="17" name="Text 12"/>
          <p:cNvSpPr/>
          <p:nvPr/>
        </p:nvSpPr>
        <p:spPr>
          <a:xfrm>
            <a:off x="6019800" y="3787142"/>
            <a:ext cx="552018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01418"/>
                </a:solidFill>
                <a:latin typeface="Inter" pitchFamily="34" charset="0"/>
                <a:ea typeface="Inter" pitchFamily="34" charset="-122"/>
                <a:cs typeface="Inter" pitchFamily="34" charset="-120"/>
              </a:rPr>
              <a:t>Heading became the weakest of the group</a:t>
            </a:r>
            <a:endParaRPr lang="en-US" sz="1600" dirty="0"/>
          </a:p>
        </p:txBody>
      </p:sp>
      <p:sp>
        <p:nvSpPr>
          <p:cNvPr id="18" name="Shape 13"/>
          <p:cNvSpPr/>
          <p:nvPr/>
        </p:nvSpPr>
        <p:spPr>
          <a:xfrm>
            <a:off x="812800" y="4321814"/>
            <a:ext cx="10566400" cy="0"/>
          </a:xfrm>
          <a:prstGeom prst="line">
            <a:avLst/>
          </a:prstGeom>
          <a:noFill/>
          <a:ln w="12700">
            <a:solidFill>
              <a:srgbClr val="D9DBDD"/>
            </a:solidFill>
            <a:prstDash val="solid"/>
          </a:ln>
        </p:spPr>
      </p:sp>
      <p:sp>
        <p:nvSpPr>
          <p:cNvPr id="19" name="Text 14"/>
          <p:cNvSpPr/>
          <p:nvPr/>
        </p:nvSpPr>
        <p:spPr>
          <a:xfrm>
            <a:off x="812800" y="4452621"/>
            <a:ext cx="45783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Praise made up when the facts held none</a:t>
            </a:r>
            <a:endParaRPr lang="en-US" sz="1600" dirty="0"/>
          </a:p>
        </p:txBody>
      </p:sp>
      <p:pic>
        <p:nvPicPr>
          <p:cNvPr id="20" name="Image 3" descr="arrow-right">    </p:cNvPr>
          <p:cNvPicPr>
            <a:picLocks noChangeAspect="1"/>
          </p:cNvPicPr>
          <p:nvPr/>
        </p:nvPicPr>
        <p:blipFill>
          <a:blip r:embed="rId4"/>
          <a:srcRect l="0" r="0" t="0" b="0"/>
          <a:stretch/>
        </p:blipFill>
        <p:spPr>
          <a:xfrm>
            <a:off x="5461000" y="4505964"/>
            <a:ext cx="355600" cy="177800"/>
          </a:xfrm>
          <a:prstGeom prst="rect">
            <a:avLst/>
          </a:prstGeom>
        </p:spPr>
      </p:pic>
      <p:sp>
        <p:nvSpPr>
          <p:cNvPr id="21" name="Text 15"/>
          <p:cNvSpPr/>
          <p:nvPr/>
        </p:nvSpPr>
        <p:spPr>
          <a:xfrm>
            <a:off x="6019800" y="4452621"/>
            <a:ext cx="552018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01418"/>
                </a:solidFill>
                <a:latin typeface="Inter" pitchFamily="34" charset="0"/>
                <a:ea typeface="Inter" pitchFamily="34" charset="-122"/>
                <a:cs typeface="Inter" pitchFamily="34" charset="-120"/>
              </a:rPr>
              <a:t>Added what reviewers praise to the fact sheet</a:t>
            </a:r>
            <a:endParaRPr lang="en-US" sz="1600" dirty="0"/>
          </a:p>
        </p:txBody>
      </p:sp>
      <p:sp>
        <p:nvSpPr>
          <p:cNvPr id="22" name="Text 16"/>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Task 3 · Generated guides · Found by reading drafts against the fact sheets</a:t>
            </a:r>
            <a:endParaRPr lang="en-US" sz="1200" dirty="0"/>
          </a:p>
        </p:txBody>
      </p:sp>
      <p:sp>
        <p:nvSpPr>
          <p:cNvPr id="23" name="Text 17"/>
          <p:cNvSpPr/>
          <p:nvPr/>
        </p:nvSpPr>
        <p:spPr>
          <a:xfrm>
            <a:off x="9417050" y="6238242"/>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78"/>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7F5"/>
                </a:solidFill>
                <a:latin typeface="Inter" pitchFamily="34" charset="0"/>
                <a:ea typeface="Inter" pitchFamily="34" charset="-122"/>
                <a:cs typeface="Inter" pitchFamily="34" charset="-120"/>
              </a:rPr>
              <a:t>TASK 4 · LIVE DEMO</a:t>
            </a:r>
            <a:endParaRPr lang="en-US" sz="1200" dirty="0"/>
          </a:p>
        </p:txBody>
      </p:sp>
      <p:sp>
        <p:nvSpPr>
          <p:cNvPr id="3" name="Text 1"/>
          <p:cNvSpPr/>
          <p:nvPr>
            <p:ph type="title"/>
          </p:nvPr>
        </p:nvSpPr>
        <p:spPr>
          <a:xfrm>
            <a:off x="812800" y="1127764"/>
            <a:ext cx="10883392" cy="50546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01418"/>
                </a:solidFill>
                <a:latin typeface="Inter" pitchFamily="34" charset="0"/>
                <a:ea typeface="Inter" pitchFamily="34" charset="-122"/>
                <a:cs typeface="Inter" pitchFamily="34" charset="-120"/>
              </a:rPr>
              <a:t>A public demo anyone can try</a:t>
            </a:r>
            <a:endParaRPr lang="en-US" sz="3600" dirty="0"/>
          </a:p>
        </p:txBody>
      </p:sp>
      <p:sp>
        <p:nvSpPr>
          <p:cNvPr id="4" name="Shape 2"/>
          <p:cNvSpPr/>
          <p:nvPr/>
        </p:nvSpPr>
        <p:spPr>
          <a:xfrm>
            <a:off x="812800" y="2125111"/>
            <a:ext cx="711200" cy="711200"/>
          </a:xfrm>
          <a:prstGeom prst="roundRect">
            <a:avLst>
              <a:gd name="adj" fmla="val 50000"/>
            </a:avLst>
          </a:prstGeom>
          <a:solidFill>
            <a:srgbClr val="E6ECFD"/>
          </a:solidFill>
          <a:ln/>
        </p:spPr>
      </p:sp>
      <p:pic>
        <p:nvPicPr>
          <p:cNvPr id="5" name="Image 0" descr="Cloud">    </p:cNvPr>
          <p:cNvPicPr>
            <a:picLocks noChangeAspect="1"/>
          </p:cNvPicPr>
          <p:nvPr/>
        </p:nvPicPr>
        <p:blipFill>
          <a:blip r:embed="rId1"/>
          <a:srcRect l="0" r="0" t="0" b="0"/>
          <a:stretch/>
        </p:blipFill>
        <p:spPr>
          <a:xfrm>
            <a:off x="1003300" y="2315611"/>
            <a:ext cx="330200" cy="330200"/>
          </a:xfrm>
          <a:prstGeom prst="rect">
            <a:avLst/>
          </a:prstGeom>
        </p:spPr>
      </p:pic>
      <p:sp>
        <p:nvSpPr>
          <p:cNvPr id="6" name="Text 3"/>
          <p:cNvSpPr/>
          <p:nvPr/>
        </p:nvSpPr>
        <p:spPr>
          <a:xfrm>
            <a:off x="812800" y="2937911"/>
            <a:ext cx="20910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418"/>
                </a:solidFill>
                <a:latin typeface="Inter" pitchFamily="34" charset="0"/>
                <a:ea typeface="Inter" pitchFamily="34" charset="-122"/>
                <a:cs typeface="Inter" pitchFamily="34" charset="-120"/>
              </a:rPr>
              <a:t>Model on the Hub</a:t>
            </a:r>
            <a:endParaRPr lang="en-US" sz="1600" dirty="0"/>
          </a:p>
        </p:txBody>
      </p:sp>
      <p:sp>
        <p:nvSpPr>
          <p:cNvPr id="7" name="Text 4"/>
          <p:cNvSpPr/>
          <p:nvPr/>
        </p:nvSpPr>
        <p:spPr>
          <a:xfrm>
            <a:off x="812800" y="3283347"/>
            <a:ext cx="320917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Fine-tuned RoBERTa, published on Hugging Face</a:t>
            </a:r>
            <a:endParaRPr lang="en-US" sz="1600" dirty="0"/>
          </a:p>
        </p:txBody>
      </p:sp>
      <p:pic>
        <p:nvPicPr>
          <p:cNvPr id="8" name="Image 1" descr="arrow-right">    </p:cNvPr>
          <p:cNvPicPr>
            <a:picLocks noChangeAspect="1"/>
          </p:cNvPicPr>
          <p:nvPr/>
        </p:nvPicPr>
        <p:blipFill>
          <a:blip r:embed="rId2"/>
          <a:srcRect l="0" r="0" t="0" b="0"/>
          <a:stretch/>
        </p:blipFill>
        <p:spPr>
          <a:xfrm>
            <a:off x="4030107" y="2379111"/>
            <a:ext cx="406400" cy="203200"/>
          </a:xfrm>
          <a:prstGeom prst="rect">
            <a:avLst/>
          </a:prstGeom>
        </p:spPr>
      </p:pic>
      <p:sp>
        <p:nvSpPr>
          <p:cNvPr id="9" name="Shape 5"/>
          <p:cNvSpPr/>
          <p:nvPr/>
        </p:nvSpPr>
        <p:spPr>
          <a:xfrm>
            <a:off x="4538107" y="2125111"/>
            <a:ext cx="711200" cy="711200"/>
          </a:xfrm>
          <a:prstGeom prst="roundRect">
            <a:avLst>
              <a:gd name="adj" fmla="val 50000"/>
            </a:avLst>
          </a:prstGeom>
          <a:solidFill>
            <a:srgbClr val="E6ECFD"/>
          </a:solidFill>
          <a:ln/>
        </p:spPr>
      </p:sp>
      <p:pic>
        <p:nvPicPr>
          <p:cNvPr id="10" name="Image 2" descr="Code">    </p:cNvPr>
          <p:cNvPicPr>
            <a:picLocks noChangeAspect="1"/>
          </p:cNvPicPr>
          <p:nvPr/>
        </p:nvPicPr>
        <p:blipFill>
          <a:blip r:embed="rId3"/>
          <a:srcRect l="0" r="0" t="0" b="0"/>
          <a:stretch/>
        </p:blipFill>
        <p:spPr>
          <a:xfrm>
            <a:off x="4728607" y="2315611"/>
            <a:ext cx="330200" cy="330200"/>
          </a:xfrm>
          <a:prstGeom prst="rect">
            <a:avLst/>
          </a:prstGeom>
        </p:spPr>
      </p:pic>
      <p:sp>
        <p:nvSpPr>
          <p:cNvPr id="11" name="Text 6"/>
          <p:cNvSpPr/>
          <p:nvPr/>
        </p:nvSpPr>
        <p:spPr>
          <a:xfrm>
            <a:off x="4538107" y="2937911"/>
            <a:ext cx="12966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418"/>
                </a:solidFill>
                <a:latin typeface="Inter" pitchFamily="34" charset="0"/>
                <a:ea typeface="Inter" pitchFamily="34" charset="-122"/>
                <a:cs typeface="Inter" pitchFamily="34" charset="-120"/>
              </a:rPr>
              <a:t>Gradio app</a:t>
            </a:r>
            <a:endParaRPr lang="en-US" sz="1600" dirty="0"/>
          </a:p>
        </p:txBody>
      </p:sp>
      <p:sp>
        <p:nvSpPr>
          <p:cNvPr id="12" name="Text 7"/>
          <p:cNvSpPr/>
          <p:nvPr/>
        </p:nvSpPr>
        <p:spPr>
          <a:xfrm>
            <a:off x="4538107" y="3283347"/>
            <a:ext cx="320926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Paste a review, see a probability for each class</a:t>
            </a:r>
            <a:endParaRPr lang="en-US" sz="1600" dirty="0"/>
          </a:p>
        </p:txBody>
      </p:sp>
      <p:pic>
        <p:nvPicPr>
          <p:cNvPr id="13" name="Image 3" descr="arrow-right">    </p:cNvPr>
          <p:cNvPicPr>
            <a:picLocks noChangeAspect="1"/>
          </p:cNvPicPr>
          <p:nvPr/>
        </p:nvPicPr>
        <p:blipFill>
          <a:blip r:embed="rId4"/>
          <a:srcRect l="0" r="0" t="0" b="0"/>
          <a:stretch/>
        </p:blipFill>
        <p:spPr>
          <a:xfrm>
            <a:off x="7755493" y="2379111"/>
            <a:ext cx="406400" cy="203200"/>
          </a:xfrm>
          <a:prstGeom prst="rect">
            <a:avLst/>
          </a:prstGeom>
        </p:spPr>
      </p:pic>
      <p:sp>
        <p:nvSpPr>
          <p:cNvPr id="14" name="Shape 8"/>
          <p:cNvSpPr/>
          <p:nvPr/>
        </p:nvSpPr>
        <p:spPr>
          <a:xfrm>
            <a:off x="8263493" y="2125111"/>
            <a:ext cx="711200" cy="711200"/>
          </a:xfrm>
          <a:prstGeom prst="roundRect">
            <a:avLst>
              <a:gd name="adj" fmla="val 50000"/>
            </a:avLst>
          </a:prstGeom>
          <a:solidFill>
            <a:srgbClr val="E6ECFD"/>
          </a:solidFill>
          <a:ln/>
        </p:spPr>
      </p:sp>
      <p:pic>
        <p:nvPicPr>
          <p:cNvPr id="15" name="Image 4" descr="Globe">    </p:cNvPr>
          <p:cNvPicPr>
            <a:picLocks noChangeAspect="1"/>
          </p:cNvPicPr>
          <p:nvPr/>
        </p:nvPicPr>
        <p:blipFill>
          <a:blip r:embed="rId5"/>
          <a:srcRect l="0" r="0" t="0" b="0"/>
          <a:stretch/>
        </p:blipFill>
        <p:spPr>
          <a:xfrm>
            <a:off x="8453993" y="2315611"/>
            <a:ext cx="330200" cy="330200"/>
          </a:xfrm>
          <a:prstGeom prst="rect">
            <a:avLst/>
          </a:prstGeom>
        </p:spPr>
      </p:pic>
      <p:sp>
        <p:nvSpPr>
          <p:cNvPr id="16" name="Text 9"/>
          <p:cNvSpPr/>
          <p:nvPr/>
        </p:nvSpPr>
        <p:spPr>
          <a:xfrm>
            <a:off x="8263493" y="2937911"/>
            <a:ext cx="152447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418"/>
                </a:solidFill>
                <a:latin typeface="Inter" pitchFamily="34" charset="0"/>
                <a:ea typeface="Inter" pitchFamily="34" charset="-122"/>
                <a:cs typeface="Inter" pitchFamily="34" charset="-120"/>
              </a:rPr>
              <a:t>A free Space</a:t>
            </a:r>
            <a:endParaRPr lang="en-US" sz="1600" dirty="0"/>
          </a:p>
        </p:txBody>
      </p:sp>
      <p:sp>
        <p:nvSpPr>
          <p:cNvPr id="17" name="Text 10"/>
          <p:cNvSpPr/>
          <p:nvPr/>
        </p:nvSpPr>
        <p:spPr>
          <a:xfrm>
            <a:off x="8263493" y="3283347"/>
            <a:ext cx="328583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Public URL, nothing to install</a:t>
            </a:r>
            <a:endParaRPr lang="en-US" sz="1600" dirty="0"/>
          </a:p>
        </p:txBody>
      </p:sp>
      <p:sp>
        <p:nvSpPr>
          <p:cNvPr id="18" name="Shape 11"/>
          <p:cNvSpPr/>
          <p:nvPr/>
        </p:nvSpPr>
        <p:spPr>
          <a:xfrm>
            <a:off x="831850" y="4369674"/>
            <a:ext cx="0" cy="619760"/>
          </a:xfrm>
          <a:prstGeom prst="line">
            <a:avLst/>
          </a:prstGeom>
          <a:noFill/>
          <a:ln w="38100">
            <a:solidFill>
              <a:srgbClr val="2457F5"/>
            </a:solidFill>
            <a:prstDash val="solid"/>
          </a:ln>
        </p:spPr>
      </p:sp>
      <p:sp>
        <p:nvSpPr>
          <p:cNvPr id="19" name="Text 12"/>
          <p:cNvSpPr/>
          <p:nvPr/>
        </p:nvSpPr>
        <p:spPr>
          <a:xfrm>
            <a:off x="1051560" y="4395074"/>
            <a:ext cx="1063746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1418"/>
                </a:solidFill>
                <a:latin typeface="Inter" pitchFamily="34" charset="0"/>
                <a:ea typeface="Inter" pitchFamily="34" charset="-122"/>
                <a:cs typeface="Inter" pitchFamily="34" charset="-120"/>
              </a:rPr>
              <a:t>Gotcha: ZeroGPU Spaces stop at startup unless one function is marked @spaces.GPU. One decorator fixed it.</a:t>
            </a:r>
            <a:endParaRPr lang="en-US" sz="1600" dirty="0"/>
          </a:p>
        </p:txBody>
      </p:sp>
      <p:sp>
        <p:nvSpPr>
          <p:cNvPr id="20" name="Text 13"/>
          <p:cNvSpPr/>
          <p:nvPr/>
        </p:nvSpPr>
        <p:spPr>
          <a:xfrm>
            <a:off x="812800" y="5506721"/>
            <a:ext cx="1088339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457F5"/>
                </a:solidFill>
                <a:latin typeface="Inter" pitchFamily="34" charset="0"/>
                <a:ea typeface="Inter" pitchFamily="34" charset="-122"/>
                <a:cs typeface="Inter" pitchFamily="34" charset="-120"/>
              </a:rPr>
              <a:t>huggingface.co/spaces/Roberto-Vargas/Workshop_1</a:t>
            </a:r>
            <a:endParaRPr lang="en-US" sz="2200" dirty="0"/>
          </a:p>
        </p:txBody>
      </p:sp>
      <p:sp>
        <p:nvSpPr>
          <p:cNvPr id="21" name="Text 14"/>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Task 4 · Live demo</a:t>
            </a:r>
            <a:endParaRPr lang="en-US" sz="1200" dirty="0"/>
          </a:p>
        </p:txBody>
      </p:sp>
      <p:sp>
        <p:nvSpPr>
          <p:cNvPr id="22" name="Text 15"/>
          <p:cNvSpPr/>
          <p:nvPr/>
        </p:nvSpPr>
        <p:spPr>
          <a:xfrm>
            <a:off x="9417050" y="6238242"/>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78"/>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1418"/>
        </a:solidFill>
      </p:bgPr>
    </p:bg>
    <p:spTree>
      <p:nvGrpSpPr>
        <p:cNvPr id="1" name=""/>
        <p:cNvGrpSpPr/>
        <p:nvPr/>
      </p:nvGrpSpPr>
      <p:grpSpPr>
        <a:xfrm>
          <a:off x="0" y="0"/>
          <a:ext cx="0" cy="0"/>
          <a:chOff x="0" y="0"/>
          <a:chExt cx="0" cy="0"/>
        </a:xfrm>
      </p:grpSpPr>
      <p:sp>
        <p:nvSpPr>
          <p:cNvPr id="2" name="Text 0"/>
          <p:cNvSpPr/>
          <p:nvPr>
            <p:ph type="title"/>
          </p:nvPr>
        </p:nvSpPr>
        <p:spPr>
          <a:xfrm>
            <a:off x="812800" y="1565914"/>
            <a:ext cx="10883392" cy="50546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FAFAF8"/>
                </a:solidFill>
                <a:latin typeface="Inter" pitchFamily="34" charset="0"/>
                <a:ea typeface="Inter" pitchFamily="34" charset="-122"/>
                <a:cs typeface="Inter" pitchFamily="34" charset="-120"/>
              </a:rPr>
              <a:t>Three things to remember</a:t>
            </a:r>
            <a:endParaRPr lang="en-US" sz="3600" dirty="0"/>
          </a:p>
        </p:txBody>
      </p:sp>
      <p:sp>
        <p:nvSpPr>
          <p:cNvPr id="3" name="Text 1"/>
          <p:cNvSpPr/>
          <p:nvPr/>
        </p:nvSpPr>
        <p:spPr>
          <a:xfrm>
            <a:off x="812800" y="2401571"/>
            <a:ext cx="812800"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8FB0FF"/>
                </a:solidFill>
                <a:latin typeface="Inter" pitchFamily="34" charset="0"/>
                <a:ea typeface="Inter" pitchFamily="34" charset="-122"/>
                <a:cs typeface="Inter" pitchFamily="34" charset="-120"/>
              </a:rPr>
              <a:t>01</a:t>
            </a:r>
            <a:endParaRPr lang="en-US" sz="3600" dirty="0"/>
          </a:p>
        </p:txBody>
      </p:sp>
      <p:sp>
        <p:nvSpPr>
          <p:cNvPr id="4" name="Text 2"/>
          <p:cNvSpPr/>
          <p:nvPr/>
        </p:nvSpPr>
        <p:spPr>
          <a:xfrm>
            <a:off x="1828800" y="2401571"/>
            <a:ext cx="9836912" cy="751840"/>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FAFAF8"/>
                </a:solidFill>
                <a:latin typeface="Inter" pitchFamily="34" charset="0"/>
                <a:ea typeface="Inter" pitchFamily="34" charset="-122"/>
                <a:cs typeface="Inter" pitchFamily="34" charset="-120"/>
              </a:rPr>
              <a:t>Accuracy hides imbalance.</a:t>
            </a:r>
            <a:r>
              <a:rPr lang="en-US" sz="2200" dirty="0">
                <a:solidFill>
                  <a:srgbClr val="FAFAF8"/>
                </a:solidFill>
                <a:latin typeface="Inter" pitchFamily="34" charset="0"/>
                <a:ea typeface="Inter" pitchFamily="34" charset="-122"/>
                <a:cs typeface="Inter" pitchFamily="34" charset="-120"/>
              </a:rPr>
              <a:t> With 93% positive reviews, macro-F1 told the real story.</a:t>
            </a:r>
            <a:endParaRPr lang="en-US" sz="2200" dirty="0"/>
          </a:p>
        </p:txBody>
      </p:sp>
      <p:sp>
        <p:nvSpPr>
          <p:cNvPr id="5" name="Text 3"/>
          <p:cNvSpPr/>
          <p:nvPr/>
        </p:nvSpPr>
        <p:spPr>
          <a:xfrm>
            <a:off x="812800" y="3483614"/>
            <a:ext cx="812800"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8FB0FF"/>
                </a:solidFill>
                <a:latin typeface="Inter" pitchFamily="34" charset="0"/>
                <a:ea typeface="Inter" pitchFamily="34" charset="-122"/>
                <a:cs typeface="Inter" pitchFamily="34" charset="-120"/>
              </a:rPr>
              <a:t>02</a:t>
            </a:r>
            <a:endParaRPr lang="en-US" sz="3600" dirty="0"/>
          </a:p>
        </p:txBody>
      </p:sp>
      <p:sp>
        <p:nvSpPr>
          <p:cNvPr id="6" name="Text 4"/>
          <p:cNvSpPr/>
          <p:nvPr/>
        </p:nvSpPr>
        <p:spPr>
          <a:xfrm>
            <a:off x="1828800" y="3483614"/>
            <a:ext cx="9836912" cy="751840"/>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FAFAF8"/>
                </a:solidFill>
                <a:latin typeface="Inter" pitchFamily="34" charset="0"/>
                <a:ea typeface="Inter" pitchFamily="34" charset="-122"/>
                <a:cs typeface="Inter" pitchFamily="34" charset="-120"/>
              </a:rPr>
              <a:t>Check the data before the model.</a:t>
            </a:r>
            <a:r>
              <a:rPr lang="en-US" sz="2200" dirty="0">
                <a:solidFill>
                  <a:srgbClr val="FAFAF8"/>
                </a:solidFill>
                <a:latin typeface="Inter" pitchFamily="34" charset="0"/>
                <a:ea typeface="Inter" pitchFamily="34" charset="-122"/>
                <a:cs typeface="Inter" pitchFamily="34" charset="-120"/>
              </a:rPr>
              <a:t> Product names were wrong, so clusters and articles lean on categories and review text.</a:t>
            </a:r>
            <a:endParaRPr lang="en-US" sz="2200" dirty="0"/>
          </a:p>
        </p:txBody>
      </p:sp>
      <p:sp>
        <p:nvSpPr>
          <p:cNvPr id="7" name="Text 5"/>
          <p:cNvSpPr/>
          <p:nvPr/>
        </p:nvSpPr>
        <p:spPr>
          <a:xfrm>
            <a:off x="812800" y="4565650"/>
            <a:ext cx="812800"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8FB0FF"/>
                </a:solidFill>
                <a:latin typeface="Inter" pitchFamily="34" charset="0"/>
                <a:ea typeface="Inter" pitchFamily="34" charset="-122"/>
                <a:cs typeface="Inter" pitchFamily="34" charset="-120"/>
              </a:rPr>
              <a:t>03</a:t>
            </a:r>
            <a:endParaRPr lang="en-US" sz="3600" dirty="0"/>
          </a:p>
        </p:txBody>
      </p:sp>
      <p:sp>
        <p:nvSpPr>
          <p:cNvPr id="8" name="Text 6"/>
          <p:cNvSpPr/>
          <p:nvPr/>
        </p:nvSpPr>
        <p:spPr>
          <a:xfrm>
            <a:off x="1828800" y="4565650"/>
            <a:ext cx="9836912" cy="751840"/>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FAFAF8"/>
                </a:solidFill>
                <a:latin typeface="Inter" pitchFamily="34" charset="0"/>
                <a:ea typeface="Inter" pitchFamily="34" charset="-122"/>
                <a:cs typeface="Inter" pitchFamily="34" charset="-120"/>
              </a:rPr>
              <a:t>Let code compute the facts and the model write.</a:t>
            </a:r>
            <a:r>
              <a:rPr lang="en-US" sz="2200" dirty="0">
                <a:solidFill>
                  <a:srgbClr val="FAFAF8"/>
                </a:solidFill>
                <a:latin typeface="Inter" pitchFamily="34" charset="0"/>
                <a:ea typeface="Inter" pitchFamily="34" charset="-122"/>
                <a:cs typeface="Inter" pitchFamily="34" charset="-120"/>
              </a:rPr>
              <a:t> Every claim in an article should trace back to the fact sheet.</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457F5"/>
                </a:solidFill>
                <a:latin typeface="Inter" pitchFamily="34" charset="0"/>
                <a:ea typeface="Inter" pitchFamily="34" charset="-122"/>
                <a:cs typeface="Inter" pitchFamily="34" charset="-120"/>
              </a:rPr>
              <a:t>WHAT NEXT</a:t>
            </a:r>
            <a:endParaRPr lang="en-US" sz="1200" dirty="0"/>
          </a:p>
        </p:txBody>
      </p:sp>
      <p:sp>
        <p:nvSpPr>
          <p:cNvPr id="3" name="Text 1"/>
          <p:cNvSpPr/>
          <p:nvPr>
            <p:ph type="title"/>
          </p:nvPr>
        </p:nvSpPr>
        <p:spPr>
          <a:xfrm>
            <a:off x="812800" y="1127764"/>
            <a:ext cx="10883392" cy="50546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01418"/>
                </a:solidFill>
                <a:latin typeface="Inter" pitchFamily="34" charset="0"/>
                <a:ea typeface="Inter" pitchFamily="34" charset="-122"/>
                <a:cs typeface="Inter" pitchFamily="34" charset="-120"/>
              </a:rPr>
              <a:t>Where to go from here</a:t>
            </a:r>
            <a:endParaRPr lang="en-US" sz="3600" dirty="0"/>
          </a:p>
        </p:txBody>
      </p:sp>
      <p:sp>
        <p:nvSpPr>
          <p:cNvPr id="4" name="Shape 2"/>
          <p:cNvSpPr/>
          <p:nvPr/>
        </p:nvSpPr>
        <p:spPr>
          <a:xfrm>
            <a:off x="812800" y="1874527"/>
            <a:ext cx="5130800" cy="0"/>
          </a:xfrm>
          <a:prstGeom prst="line">
            <a:avLst/>
          </a:prstGeom>
          <a:noFill/>
          <a:ln w="25400">
            <a:solidFill>
              <a:srgbClr val="2457F5"/>
            </a:solidFill>
            <a:prstDash val="solid"/>
          </a:ln>
        </p:spPr>
      </p:sp>
      <p:sp>
        <p:nvSpPr>
          <p:cNvPr id="5" name="Text 3"/>
          <p:cNvSpPr/>
          <p:nvPr/>
        </p:nvSpPr>
        <p:spPr>
          <a:xfrm>
            <a:off x="812800" y="2090427"/>
            <a:ext cx="52847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1418"/>
                </a:solidFill>
                <a:latin typeface="Inter" pitchFamily="34" charset="0"/>
                <a:ea typeface="Inter" pitchFamily="34" charset="-122"/>
                <a:cs typeface="Inter" pitchFamily="34" charset="-120"/>
              </a:rPr>
              <a:t>A bigger writer</a:t>
            </a:r>
            <a:endParaRPr lang="en-US" sz="2200" dirty="0"/>
          </a:p>
        </p:txBody>
      </p:sp>
      <p:sp>
        <p:nvSpPr>
          <p:cNvPr id="6" name="Text 4"/>
          <p:cNvSpPr/>
          <p:nvPr/>
        </p:nvSpPr>
        <p:spPr>
          <a:xfrm>
            <a:off x="812800" y="2501900"/>
            <a:ext cx="528472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Try a 7B model with 4-bit loading if the 3B model still invents details.</a:t>
            </a:r>
            <a:endParaRPr lang="en-US" sz="1600" dirty="0"/>
          </a:p>
        </p:txBody>
      </p:sp>
      <p:sp>
        <p:nvSpPr>
          <p:cNvPr id="7" name="Shape 5"/>
          <p:cNvSpPr/>
          <p:nvPr/>
        </p:nvSpPr>
        <p:spPr>
          <a:xfrm>
            <a:off x="6248400" y="1874527"/>
            <a:ext cx="5130800" cy="0"/>
          </a:xfrm>
          <a:prstGeom prst="line">
            <a:avLst/>
          </a:prstGeom>
          <a:noFill/>
          <a:ln w="25400">
            <a:solidFill>
              <a:srgbClr val="2457F5"/>
            </a:solidFill>
            <a:prstDash val="solid"/>
          </a:ln>
        </p:spPr>
      </p:sp>
      <p:sp>
        <p:nvSpPr>
          <p:cNvPr id="8" name="Text 6"/>
          <p:cNvSpPr/>
          <p:nvPr/>
        </p:nvSpPr>
        <p:spPr>
          <a:xfrm>
            <a:off x="6248400" y="2090427"/>
            <a:ext cx="52847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1418"/>
                </a:solidFill>
                <a:latin typeface="Inter" pitchFamily="34" charset="0"/>
                <a:ea typeface="Inter" pitchFamily="34" charset="-122"/>
                <a:cs typeface="Inter" pitchFamily="34" charset="-120"/>
              </a:rPr>
              <a:t>Other label mappings</a:t>
            </a:r>
            <a:endParaRPr lang="en-US" sz="2200" dirty="0"/>
          </a:p>
        </p:txBody>
      </p:sp>
      <p:sp>
        <p:nvSpPr>
          <p:cNvPr id="9" name="Text 7"/>
          <p:cNvSpPr/>
          <p:nvPr/>
        </p:nvSpPr>
        <p:spPr>
          <a:xfrm>
            <a:off x="6248400" y="2501900"/>
            <a:ext cx="528472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Drop neutral, or predict all five star ratings and collapse them afterwards.</a:t>
            </a:r>
            <a:endParaRPr lang="en-US" sz="1600" dirty="0"/>
          </a:p>
        </p:txBody>
      </p:sp>
      <p:sp>
        <p:nvSpPr>
          <p:cNvPr id="10" name="Shape 8"/>
          <p:cNvSpPr/>
          <p:nvPr/>
        </p:nvSpPr>
        <p:spPr>
          <a:xfrm>
            <a:off x="812800" y="3388358"/>
            <a:ext cx="5130800" cy="0"/>
          </a:xfrm>
          <a:prstGeom prst="line">
            <a:avLst/>
          </a:prstGeom>
          <a:noFill/>
          <a:ln w="25400">
            <a:solidFill>
              <a:srgbClr val="2457F5"/>
            </a:solidFill>
            <a:prstDash val="solid"/>
          </a:ln>
        </p:spPr>
      </p:sp>
      <p:sp>
        <p:nvSpPr>
          <p:cNvPr id="11" name="Text 9"/>
          <p:cNvSpPr/>
          <p:nvPr/>
        </p:nvSpPr>
        <p:spPr>
          <a:xfrm>
            <a:off x="812800" y="3604258"/>
            <a:ext cx="52847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1418"/>
                </a:solidFill>
                <a:latin typeface="Inter" pitchFamily="34" charset="0"/>
                <a:ea typeface="Inter" pitchFamily="34" charset="-122"/>
                <a:cs typeface="Inter" pitchFamily="34" charset="-120"/>
              </a:rPr>
              <a:t>Visualize the results</a:t>
            </a:r>
            <a:endParaRPr lang="en-US" sz="2200" dirty="0"/>
          </a:p>
        </p:txBody>
      </p:sp>
      <p:sp>
        <p:nvSpPr>
          <p:cNvPr id="12" name="Text 10"/>
          <p:cNvSpPr/>
          <p:nvPr/>
        </p:nvSpPr>
        <p:spPr>
          <a:xfrm>
            <a:off x="812800" y="4015742"/>
            <a:ext cx="528472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Sentiment by category, complaint themes and a map of the clusters (Bonus 1).</a:t>
            </a:r>
            <a:endParaRPr lang="en-US" sz="1600" dirty="0"/>
          </a:p>
        </p:txBody>
      </p:sp>
      <p:sp>
        <p:nvSpPr>
          <p:cNvPr id="13" name="Shape 11"/>
          <p:cNvSpPr/>
          <p:nvPr/>
        </p:nvSpPr>
        <p:spPr>
          <a:xfrm>
            <a:off x="6248400" y="3388358"/>
            <a:ext cx="5130800" cy="0"/>
          </a:xfrm>
          <a:prstGeom prst="line">
            <a:avLst/>
          </a:prstGeom>
          <a:noFill/>
          <a:ln w="25400">
            <a:solidFill>
              <a:srgbClr val="2457F5"/>
            </a:solidFill>
            <a:prstDash val="solid"/>
          </a:ln>
        </p:spPr>
      </p:sp>
      <p:sp>
        <p:nvSpPr>
          <p:cNvPr id="14" name="Text 12"/>
          <p:cNvSpPr/>
          <p:nvPr/>
        </p:nvSpPr>
        <p:spPr>
          <a:xfrm>
            <a:off x="6248400" y="3604258"/>
            <a:ext cx="52847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1418"/>
                </a:solidFill>
                <a:latin typeface="Inter" pitchFamily="34" charset="0"/>
                <a:ea typeface="Inter" pitchFamily="34" charset="-122"/>
                <a:cs typeface="Inter" pitchFamily="34" charset="-120"/>
              </a:rPr>
              <a:t>Translate reviews</a:t>
            </a:r>
            <a:endParaRPr lang="en-US" sz="2200" dirty="0"/>
          </a:p>
        </p:txBody>
      </p:sp>
      <p:sp>
        <p:nvSpPr>
          <p:cNvPr id="15" name="Text 13"/>
          <p:cNvSpPr/>
          <p:nvPr/>
        </p:nvSpPr>
        <p:spPr>
          <a:xfrm>
            <a:off x="6248400" y="4015742"/>
            <a:ext cx="528472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178"/>
                </a:solidFill>
                <a:latin typeface="Inter" pitchFamily="34" charset="0"/>
                <a:ea typeface="Inter" pitchFamily="34" charset="-122"/>
                <a:cs typeface="Inter" pitchFamily="34" charset="-120"/>
              </a:rPr>
              <a:t>Run the demo on reviews in other languages (Bonus 2).</a:t>
            </a:r>
            <a:endParaRPr lang="en-US" sz="1600" dirty="0"/>
          </a:p>
        </p:txBody>
      </p:sp>
      <p:sp>
        <p:nvSpPr>
          <p:cNvPr id="16" name="Text 14"/>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78"/>
                </a:solidFill>
                <a:latin typeface="Inter" pitchFamily="34" charset="0"/>
                <a:ea typeface="Inter" pitchFamily="34" charset="-122"/>
                <a:cs typeface="Inter" pitchFamily="34" charset="-120"/>
              </a:rPr>
              <a:t>Questions? · Live demo: huggingface.co/spaces/Roberto-Vargas/Workshop_1</a:t>
            </a:r>
            <a:endParaRPr lang="en-US" sz="1200" dirty="0"/>
          </a:p>
        </p:txBody>
      </p:sp>
      <p:sp>
        <p:nvSpPr>
          <p:cNvPr id="17" name="Text 15"/>
          <p:cNvSpPr/>
          <p:nvPr/>
        </p:nvSpPr>
        <p:spPr>
          <a:xfrm>
            <a:off x="9417050" y="6238242"/>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78"/>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theme/theme1.xml><?xml version="1.0" encoding="utf-8"?>
<a:theme xmlns:a="http://schemas.openxmlformats.org/drawingml/2006/main" name="Customer Reviews NLP Workshop">
  <a:themeElements>
    <a:clrScheme name="Customer Reviews NLP Workshop">
      <a:dk1>
        <a:srgbClr val="101418"/>
      </a:dk1>
      <a:lt1>
        <a:srgbClr val="FAFAF8"/>
      </a:lt1>
      <a:dk2>
        <a:srgbClr val="4B4E50"/>
      </a:dk2>
      <a:lt2>
        <a:srgbClr val="E3E3E2"/>
      </a:lt2>
      <a:accent1>
        <a:srgbClr val="2457F5"/>
      </a:accent1>
      <a:accent2>
        <a:srgbClr val="E8731A"/>
      </a:accent2>
      <a:accent3>
        <a:srgbClr val="8FB0FF"/>
      </a:accent3>
      <a:accent4>
        <a:srgbClr val="B3560B"/>
      </a:accent4>
      <a:accent5>
        <a:srgbClr val="6B7178"/>
      </a:accent5>
      <a:accent6>
        <a:srgbClr val="9AA0A6"/>
      </a:accent6>
      <a:hlink>
        <a:srgbClr val="0563C1"/>
      </a:hlink>
      <a:folHlink>
        <a:srgbClr val="954F72"/>
      </a:folHlink>
    </a:clrScheme>
    <a:fontScheme name="Customer Reviews NLP Workshop">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Reviews NLP Workshop</dc:title>
  <dc:subject/>
  <dc:creator/>
  <cp:lastModifiedBy/>
  <cp:revision>1</cp:revision>
  <dcterms:created xsi:type="dcterms:W3CDTF">2026-10-06T10:49:08Z</dcterms:created>
  <dcterms:modified xsi:type="dcterms:W3CDTF">2026-10-06T10:49:08Z</dcterms:modified>
</cp:coreProperties>
</file>