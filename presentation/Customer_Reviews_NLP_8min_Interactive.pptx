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12192000"/>
  <p:embeddedFontLst>
    <p:embeddedFont>
      <p:font typeface="Inter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hjckA+THtC6JXs/541p9JHfZ8Q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Inter-regular.fntdata"/><Relationship Id="rId14" Type="http://schemas.openxmlformats.org/officeDocument/2006/relationships/slide" Target="slides/slide10.xml"/><Relationship Id="rId17" Type="http://schemas.openxmlformats.org/officeDocument/2006/relationships/font" Target="fonts/Inter-italic.fntdata"/><Relationship Id="rId16" Type="http://schemas.openxmlformats.org/officeDocument/2006/relationships/font" Target="fonts/Inter-bold.fntdata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font" Target="fonts/Inter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" name="Google Shape;1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“Before we explain our project, we want to start with a small challenge.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Imagine this is a customer review: </a:t>
            </a:r>
            <a:r>
              <a:rPr i="1" lang="en-US" sz="1100"/>
              <a:t>Great price and easy to use, but it’s slow and I probably wouldn’t buy it again.</a:t>
            </a:r>
            <a:endParaRPr i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What do you think — negative, neutral, or positive?” 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“Keep your answer in mind. At the end, we’ll put exactly this review into our model and see whether the AI agrees with you.” </a:t>
            </a:r>
            <a:endParaRPr sz="1100"/>
          </a:p>
        </p:txBody>
      </p:sp>
      <p:sp>
        <p:nvSpPr>
          <p:cNvPr id="19" name="Google Shape;1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rgbClr val="101418"/>
                </a:solidFill>
                <a:latin typeface="Inter"/>
                <a:ea typeface="Inter"/>
                <a:cs typeface="Inter"/>
                <a:sym typeface="Inter"/>
              </a:rPr>
              <a:t>Four tasks. The cleaned data trains the sentiment model. The clusters decide which products go into each article. The sentiment model is what we deploy at the end.</a:t>
            </a:r>
            <a:endParaRPr/>
          </a:p>
        </p:txBody>
      </p:sp>
      <p:sp>
        <p:nvSpPr>
          <p:cNvPr id="37" name="Google Shape;3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“Now here's something interesting. Suppose I tell you our model has </a:t>
            </a:r>
            <a:r>
              <a:rPr b="1" lang="en-US" sz="1100"/>
              <a:t>93.3% accuracy</a:t>
            </a:r>
            <a:r>
              <a:rPr lang="en-US" sz="1100"/>
              <a:t>. Would you say that's a good model?” 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“Actually, no. Because 93.3% of our reviews are positive. A completely useless model that predicts </a:t>
            </a:r>
            <a:r>
              <a:rPr i="1" lang="en-US" sz="1100"/>
              <a:t>positive every single time</a:t>
            </a:r>
            <a:r>
              <a:rPr lang="en-US" sz="1100"/>
              <a:t> also gets 93.3% accuracy.” 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65" name="Google Shape;6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“Now we had a fair benchmark. Our baseline was TF-IDF with Logistic Regression, using words and word pairs. It achieved a Macro-F1 of </a:t>
            </a:r>
            <a:r>
              <a:rPr b="1" lang="en-US" sz="1100"/>
              <a:t>0.654</a:t>
            </a:r>
            <a:r>
              <a:rPr lang="en-US" sz="1100"/>
              <a:t>.” 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“Then we fine-tuned RoBERTa on exactly the same split. Macro-F1 increased to </a:t>
            </a:r>
            <a:r>
              <a:rPr b="1" lang="en-US" sz="1100"/>
              <a:t>0.709</a:t>
            </a:r>
            <a:r>
              <a:rPr lang="en-US" sz="1100"/>
              <a:t>.” 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“But what's more important is where it improved. Negative F1 increased from </a:t>
            </a:r>
            <a:r>
              <a:rPr b="1" lang="en-US" sz="1100"/>
              <a:t>0.608 to 0.717</a:t>
            </a:r>
            <a:r>
              <a:rPr lang="en-US" sz="1100"/>
              <a:t>, and Neutral from </a:t>
            </a:r>
            <a:r>
              <a:rPr b="1" lang="en-US" sz="1100"/>
              <a:t>0.385 to 0.435</a:t>
            </a:r>
            <a:r>
              <a:rPr lang="en-US" sz="1100"/>
              <a:t>. 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“So the Transformer didn't just improve accuracy—it became better at finding the classes that were difficult to detect.” </a:t>
            </a:r>
            <a:endParaRPr sz="1100"/>
          </a:p>
        </p:txBody>
      </p:sp>
      <p:sp>
        <p:nvSpPr>
          <p:cNvPr id="82" name="Google Shape;8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“For Task 2, we changed the question. Instead of classifying reviews, we wanted to discover broader product categories.”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“We clustered at the </a:t>
            </a:r>
            <a:r>
              <a:rPr b="1" lang="en-US" sz="1100"/>
              <a:t>product level</a:t>
            </a:r>
            <a:r>
              <a:rPr lang="en-US" sz="1100"/>
              <a:t>, not the review level, because a few products dominate the dataset.” 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“The 36 products were ultimately organized into five useful meta-categories: Fire tablets, Echo smart speakers, Fire TV devices, Kindle e-readers and Accessories.” </a:t>
            </a:r>
            <a:endParaRPr sz="1100"/>
          </a:p>
        </p:txBody>
      </p:sp>
      <p:sp>
        <p:nvSpPr>
          <p:cNvPr id="121" name="Google Shape;12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“But during clustering we discovered something more important than the algorithm: some of the raw product names were simply wrong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“For example, one ASIN was labelled as an </a:t>
            </a:r>
            <a:r>
              <a:rPr i="1" lang="en-US" sz="1100"/>
              <a:t>All-New Kindle E-reader</a:t>
            </a:r>
            <a:r>
              <a:rPr lang="en-US" sz="1100"/>
              <a:t>, but after verification it was actually an </a:t>
            </a:r>
            <a:r>
              <a:rPr b="1" lang="en-US" sz="1100"/>
              <a:t>Amazon 5W USB charger</a:t>
            </a:r>
            <a:r>
              <a:rPr lang="en-US" sz="1100"/>
              <a:t>.” 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“So instead of blindly trusting the product-name column, we relied on categories and review text for clustering and created a verified product-name table for the next task.” 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This was a good reminder that a better model cannot fix unreliable data.” </a:t>
            </a:r>
            <a:endParaRPr sz="1100"/>
          </a:p>
        </p:txBody>
      </p:sp>
      <p:sp>
        <p:nvSpPr>
          <p:cNvPr id="155" name="Google Shape;15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Start with another question: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“For Task 3 we gave structured facts to a Qwen 3B generative model and asked it to write useful product guides. But then something happened.”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Point to the hallucination:</a:t>
            </a:r>
            <a:endParaRPr sz="1100"/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“The model invented a product called </a:t>
            </a:r>
            <a:r>
              <a:rPr b="1" lang="en-US" sz="1100"/>
              <a:t>Echo Dot Plus</a:t>
            </a:r>
            <a:r>
              <a:rPr lang="en-US" sz="1100"/>
              <a:t> and even invented a feature.”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Then ask:</a:t>
            </a:r>
            <a:endParaRPr sz="1100"/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“So what should we do? Just use a bigger model?”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Short pause.</a:t>
            </a:r>
            <a:endParaRPr sz="1100"/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“Our solution was different. We made the generation more grounded. Code computes the facts first—ratings, rankings, complaints and praise. The language model's job is mainly to write.”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Then:</a:t>
            </a:r>
            <a:endParaRPr sz="1100"/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“We also added stricter prompting and checks for unknown product names.”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100"/>
              <a:t>Three things we learned” </a:t>
            </a:r>
            <a:endParaRPr/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“First, </a:t>
            </a:r>
            <a:r>
              <a:rPr b="1" lang="en-US" sz="1100"/>
              <a:t>accuracy can lie</a:t>
            </a:r>
            <a:r>
              <a:rPr lang="en-US" sz="1100"/>
              <a:t>, especially with imbalanced data.”</a:t>
            </a:r>
            <a:endParaRPr sz="1100"/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“Second, </a:t>
            </a:r>
            <a:r>
              <a:rPr b="1" lang="en-US" sz="1100"/>
              <a:t>check the data before blaming or improving the model</a:t>
            </a:r>
            <a:r>
              <a:rPr lang="en-US" sz="1100"/>
              <a:t>. Our incorrect product names demonstrated that.”</a:t>
            </a:r>
            <a:endParaRPr sz="1100"/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“And third, for generative AI, </a:t>
            </a:r>
            <a:r>
              <a:rPr b="1" lang="en-US" sz="1100"/>
              <a:t>let code calculate the facts and let the language model communicate them</a:t>
            </a:r>
            <a:r>
              <a:rPr lang="en-US" sz="1100"/>
              <a:t>.”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Finish energetically:</a:t>
            </a:r>
            <a:endParaRPr sz="1100"/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“And instead of ending with just a static result, we made the model publicly available.”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Point to the QR code.</a:t>
            </a:r>
            <a:endParaRPr sz="1100"/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“You can scan this QR code and try your own review. Try something obvious—or try to confuse it with a review that contains both praise and criticism.”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Then finish:</a:t>
            </a:r>
            <a:endParaRPr sz="1100"/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“So the question we started with was: </a:t>
            </a:r>
            <a:r>
              <a:rPr i="1" lang="en-US" sz="1100"/>
              <a:t>Can you beat our AI?</a:t>
            </a:r>
            <a:r>
              <a:rPr lang="en-US" sz="1100"/>
              <a:t> Now you can actually try. Thank you, and we're happy to take questions.”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F7F7F4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864F0"/>
          </a:solidFill>
          <a:ln cap="flat" cmpd="sng" w="12700">
            <a:solidFill>
              <a:srgbClr val="286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12"/>
          <p:cNvSpPr/>
          <p:nvPr/>
        </p:nvSpPr>
        <p:spPr>
          <a:xfrm>
            <a:off x="502920" y="6492240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CUSTOMER REVIEWS NLP WORKSHOP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11475720" y="6446520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11475720" y="6446520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hyperlink" Target="https://huggingface.co/spaces/Roberto-Vargas/Workshop_1" TargetMode="External"/><Relationship Id="rId5" Type="http://schemas.openxmlformats.org/officeDocument/2006/relationships/hyperlink" Target="https://huggingface.co/spaces/Roberto-Vargas/Workshop_1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"/>
          <p:cNvSpPr/>
          <p:nvPr/>
        </p:nvSpPr>
        <p:spPr>
          <a:xfrm>
            <a:off x="502920" y="32004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64F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2864F0"/>
                </a:solidFill>
                <a:latin typeface="Arial"/>
                <a:ea typeface="Arial"/>
                <a:cs typeface="Arial"/>
                <a:sym typeface="Arial"/>
              </a:rPr>
              <a:t>LIVE CHALLENGE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502920" y="658368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Can you beat our AI?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521208" y="1298448"/>
            <a:ext cx="10789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378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F7378"/>
                </a:solidFill>
                <a:latin typeface="Arial"/>
                <a:ea typeface="Arial"/>
                <a:cs typeface="Arial"/>
                <a:sym typeface="Arial"/>
              </a:rPr>
              <a:t>Vote first. We reveal the model later.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914400" y="1828800"/>
            <a:ext cx="1033272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D7D9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1234440" y="2176272"/>
            <a:ext cx="96926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500"/>
              <a:buFont typeface="Arial"/>
              <a:buNone/>
            </a:pPr>
            <a:r>
              <a:rPr b="1" i="1" lang="en-US" sz="25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“Great price and easy to use, but it’s slow and I probably wouldn’t buy it again.”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1234440" y="3977640"/>
            <a:ext cx="2971800" cy="822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9200">
            <a:solidFill>
              <a:srgbClr val="D64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1325880" y="4242816"/>
            <a:ext cx="2788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4545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64545"/>
                </a:solidFill>
                <a:latin typeface="Arial"/>
                <a:ea typeface="Arial"/>
                <a:cs typeface="Arial"/>
                <a:sym typeface="Arial"/>
              </a:rPr>
              <a:t>NEGATIVE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4663440" y="3977640"/>
            <a:ext cx="2971800" cy="822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9200">
            <a:solidFill>
              <a:srgbClr val="E9A2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4754880" y="4242816"/>
            <a:ext cx="2788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A23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9A23B"/>
                </a:solidFill>
                <a:latin typeface="Arial"/>
                <a:ea typeface="Arial"/>
                <a:cs typeface="Arial"/>
                <a:sym typeface="Arial"/>
              </a:rPr>
              <a:t>NEUTRAL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8092440" y="3977640"/>
            <a:ext cx="2971800" cy="822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9200">
            <a:solidFill>
              <a:srgbClr val="19A9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8183880" y="4242816"/>
            <a:ext cx="2788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9A974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9A974"/>
                </a:solidFill>
                <a:latin typeface="Arial"/>
                <a:ea typeface="Arial"/>
                <a:cs typeface="Arial"/>
                <a:sym typeface="Arial"/>
              </a:rPr>
              <a:t>POSITIVE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2468880" y="5257800"/>
            <a:ext cx="7223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7378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F7378"/>
                </a:solidFill>
                <a:latin typeface="Arial"/>
                <a:ea typeface="Arial"/>
                <a:cs typeface="Arial"/>
                <a:sym typeface="Arial"/>
              </a:rPr>
              <a:t>Raise your hand. No changing your answer later.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"/>
          <p:cNvSpPr txBox="1"/>
          <p:nvPr>
            <p:ph idx="4294967295" type="sldNum"/>
          </p:nvPr>
        </p:nvSpPr>
        <p:spPr>
          <a:xfrm>
            <a:off x="11475720" y="6446520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/>
          <p:nvPr/>
        </p:nvSpPr>
        <p:spPr>
          <a:xfrm>
            <a:off x="502920" y="32004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64F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2864F0"/>
                </a:solidFill>
                <a:latin typeface="Arial"/>
                <a:ea typeface="Arial"/>
                <a:cs typeface="Arial"/>
                <a:sym typeface="Arial"/>
              </a:rPr>
              <a:t>THE MISSION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502920" y="658368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34,597 reviews. Four tasks. One pipeline.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594360" y="2057400"/>
            <a:ext cx="2331720" cy="205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6500">
            <a:solidFill>
              <a:srgbClr val="D7D9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777240" y="2267712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64F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864F0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777240" y="278892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SENTIMENT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777240" y="3310128"/>
            <a:ext cx="1874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378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F7378"/>
                </a:solidFill>
                <a:latin typeface="Arial"/>
                <a:ea typeface="Arial"/>
                <a:cs typeface="Arial"/>
                <a:sym typeface="Arial"/>
              </a:rPr>
              <a:t>Negative · Neutral · Positive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2971800" y="2788920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B1B8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AAB1B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3337560" y="2057400"/>
            <a:ext cx="2331720" cy="205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6500">
            <a:solidFill>
              <a:srgbClr val="D7D9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3520440" y="2267712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64F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864F0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3520440" y="278892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CLUSTERS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3520440" y="3310128"/>
            <a:ext cx="1874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378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F7378"/>
                </a:solidFill>
                <a:latin typeface="Arial"/>
                <a:ea typeface="Arial"/>
                <a:cs typeface="Arial"/>
                <a:sym typeface="Arial"/>
              </a:rPr>
              <a:t>36 products → 5 groups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5715000" y="2788920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B1B8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AAB1B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6080760" y="2057400"/>
            <a:ext cx="2331720" cy="205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6500">
            <a:solidFill>
              <a:srgbClr val="D7D9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6263640" y="2267712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64F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864F0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6263640" y="278892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AI GUIDES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6263640" y="3310128"/>
            <a:ext cx="1874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378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F7378"/>
                </a:solidFill>
                <a:latin typeface="Arial"/>
                <a:ea typeface="Arial"/>
                <a:cs typeface="Arial"/>
                <a:sym typeface="Arial"/>
              </a:rPr>
              <a:t>Facts → Qwen 3B → guide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8458200" y="2788920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B1B8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AAB1B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8823960" y="2057400"/>
            <a:ext cx="2331720" cy="2057400"/>
          </a:xfrm>
          <a:prstGeom prst="roundRect">
            <a:avLst>
              <a:gd fmla="val 16667" name="adj"/>
            </a:avLst>
          </a:prstGeom>
          <a:solidFill>
            <a:srgbClr val="E9EEFF"/>
          </a:solidFill>
          <a:ln cap="flat" cmpd="sng" w="16500">
            <a:solidFill>
              <a:srgbClr val="286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9006840" y="2267712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64F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864F0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9006840" y="278892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LIVE APP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9006840" y="3310128"/>
            <a:ext cx="1874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378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F7378"/>
                </a:solidFill>
                <a:latin typeface="Arial"/>
                <a:ea typeface="Arial"/>
                <a:cs typeface="Arial"/>
                <a:sym typeface="Arial"/>
              </a:rPr>
              <a:t>RoBERTa anyone can try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960120" y="4892040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Goal: turn a messy review dataset into something a customer — or a product team — can actually use.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"/>
          <p:cNvSpPr txBox="1"/>
          <p:nvPr>
            <p:ph idx="4294967295" type="sldNum"/>
          </p:nvPr>
        </p:nvSpPr>
        <p:spPr>
          <a:xfrm>
            <a:off x="11475720" y="6446520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"/>
          <p:cNvSpPr/>
          <p:nvPr/>
        </p:nvSpPr>
        <p:spPr>
          <a:xfrm>
            <a:off x="502920" y="32004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64F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2864F0"/>
                </a:solidFill>
                <a:latin typeface="Arial"/>
                <a:ea typeface="Arial"/>
                <a:cs typeface="Arial"/>
                <a:sym typeface="Arial"/>
              </a:rPr>
              <a:t>THE TRAP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502920" y="658368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93.3% accuracy. Would you deploy it?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822960" y="1828800"/>
            <a:ext cx="47548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9A974"/>
              </a:buClr>
              <a:buSzPts val="6800"/>
              <a:buFont typeface="Arial"/>
              <a:buNone/>
            </a:pPr>
            <a:r>
              <a:rPr b="1" i="0" lang="en-US" sz="6800" u="none" cap="none" strike="noStrike">
                <a:solidFill>
                  <a:srgbClr val="19A974"/>
                </a:solidFill>
                <a:latin typeface="Arial"/>
                <a:ea typeface="Arial"/>
                <a:cs typeface="Arial"/>
                <a:sym typeface="Arial"/>
              </a:rPr>
              <a:t>93.3%</a:t>
            </a:r>
            <a:endParaRPr b="0" i="0" sz="6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1737360" y="2907792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737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6F7378"/>
                </a:solidFill>
                <a:latin typeface="Arial"/>
                <a:ea typeface="Arial"/>
                <a:cs typeface="Arial"/>
                <a:sym typeface="Arial"/>
              </a:rPr>
              <a:t>ACCURACY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" name="Google Shape;71;p3"/>
          <p:cNvCxnSpPr/>
          <p:nvPr/>
        </p:nvCxnSpPr>
        <p:spPr>
          <a:xfrm>
            <a:off x="5989320" y="1737360"/>
            <a:ext cx="0" cy="3383280"/>
          </a:xfrm>
          <a:prstGeom prst="straightConnector1">
            <a:avLst/>
          </a:prstGeom>
          <a:noFill/>
          <a:ln cap="flat" cmpd="sng" w="15225">
            <a:solidFill>
              <a:srgbClr val="D5D8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p3"/>
          <p:cNvSpPr/>
          <p:nvPr/>
        </p:nvSpPr>
        <p:spPr>
          <a:xfrm>
            <a:off x="6537960" y="192024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7378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F7378"/>
                </a:solidFill>
                <a:latin typeface="Arial"/>
                <a:ea typeface="Arial"/>
                <a:cs typeface="Arial"/>
                <a:sym typeface="Arial"/>
              </a:rPr>
              <a:t>But it predicts…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6583680" y="2487168"/>
            <a:ext cx="4297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9A974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19A974"/>
                </a:solidFill>
                <a:latin typeface="Arial"/>
                <a:ea typeface="Arial"/>
                <a:cs typeface="Arial"/>
                <a:sym typeface="Arial"/>
              </a:rPr>
              <a:t>POSITIVE</a:t>
            </a:r>
            <a:endParaRPr b="0" i="0" sz="3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6583680" y="3182112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7378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6F7378"/>
                </a:solidFill>
                <a:latin typeface="Arial"/>
                <a:ea typeface="Arial"/>
                <a:cs typeface="Arial"/>
                <a:sym typeface="Arial"/>
              </a:rPr>
              <a:t>every single time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7360920" y="3977640"/>
            <a:ext cx="2788920" cy="438912"/>
          </a:xfrm>
          <a:prstGeom prst="roundRect">
            <a:avLst>
              <a:gd fmla="val 16667" name="adj"/>
            </a:avLst>
          </a:prstGeom>
          <a:solidFill>
            <a:srgbClr val="FCE9E9"/>
          </a:solidFill>
          <a:ln cap="flat" cmpd="sng" w="12700">
            <a:solidFill>
              <a:srgbClr val="FCE9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7406640" y="4078224"/>
            <a:ext cx="2697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4545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64545"/>
                </a:solidFill>
                <a:latin typeface="Arial"/>
                <a:ea typeface="Arial"/>
                <a:cs typeface="Arial"/>
                <a:sym typeface="Arial"/>
              </a:rPr>
              <a:t>Macro-F1 = 0.32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1097280" y="5166360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93.3% of the dataset is positive → accuracy alone is misleading.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"/>
          <p:cNvSpPr txBox="1"/>
          <p:nvPr>
            <p:ph idx="4294967295" type="sldNum"/>
          </p:nvPr>
        </p:nvSpPr>
        <p:spPr>
          <a:xfrm>
            <a:off x="11475720" y="6446520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"/>
          <p:cNvSpPr txBox="1"/>
          <p:nvPr>
            <p:ph idx="4294967295" type="sldNum"/>
          </p:nvPr>
        </p:nvSpPr>
        <p:spPr>
          <a:xfrm>
            <a:off x="11475720" y="6446520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654300" y="596875"/>
            <a:ext cx="108834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457F5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2457F5"/>
                </a:solidFill>
                <a:latin typeface="Inter"/>
                <a:ea typeface="Inter"/>
                <a:cs typeface="Inter"/>
                <a:sym typeface="Inter"/>
              </a:rPr>
              <a:t>TASK 1 · SENTIMENT MODEL</a:t>
            </a:r>
            <a:endParaRPr b="0" i="0" sz="1200" u="none" cap="none" strike="noStrike">
              <a:solidFill>
                <a:srgbClr val="10141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6" name="Google Shape;86;p4"/>
          <p:cNvSpPr txBox="1"/>
          <p:nvPr/>
        </p:nvSpPr>
        <p:spPr>
          <a:xfrm>
            <a:off x="654300" y="911836"/>
            <a:ext cx="108834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01418"/>
                </a:solidFill>
                <a:latin typeface="Inter"/>
                <a:ea typeface="Inter"/>
                <a:cs typeface="Inter"/>
                <a:sym typeface="Inter"/>
              </a:rPr>
              <a:t>RoBERTa beats the baseline everywhere</a:t>
            </a:r>
            <a:endParaRPr sz="3600">
              <a:solidFill>
                <a:srgbClr val="10141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654300" y="1676375"/>
            <a:ext cx="152400" cy="152400"/>
          </a:xfrm>
          <a:prstGeom prst="rect">
            <a:avLst/>
          </a:prstGeom>
          <a:solidFill>
            <a:srgbClr val="9AA0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908300" y="1645896"/>
            <a:ext cx="21033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178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6B7178"/>
                </a:solidFill>
                <a:latin typeface="Inter"/>
                <a:ea typeface="Inter"/>
                <a:cs typeface="Inter"/>
                <a:sym typeface="Inter"/>
              </a:rPr>
              <a:t>TF-IDF + logistic regression</a:t>
            </a:r>
            <a:endParaRPr b="0" i="0" sz="1200" u="none" cap="none" strike="noStrike">
              <a:solidFill>
                <a:srgbClr val="10141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3011658" y="1676375"/>
            <a:ext cx="152400" cy="152400"/>
          </a:xfrm>
          <a:prstGeom prst="rect">
            <a:avLst/>
          </a:prstGeom>
          <a:solidFill>
            <a:srgbClr val="2457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3265658" y="1645896"/>
            <a:ext cx="7794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178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6B7178"/>
                </a:solidFill>
                <a:latin typeface="Inter"/>
                <a:ea typeface="Inter"/>
                <a:cs typeface="Inter"/>
                <a:sym typeface="Inter"/>
              </a:rPr>
              <a:t>RoBERTa</a:t>
            </a:r>
            <a:endParaRPr b="0" i="0" sz="1200" u="none" cap="none" strike="noStrike">
              <a:solidFill>
                <a:srgbClr val="10141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654300" y="2127225"/>
            <a:ext cx="17019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01418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101418"/>
                </a:solidFill>
                <a:latin typeface="Inter"/>
                <a:ea typeface="Inter"/>
                <a:cs typeface="Inter"/>
                <a:sym typeface="Inter"/>
              </a:rPr>
              <a:t>Macro-F1</a:t>
            </a:r>
            <a:endParaRPr b="0" i="0" sz="1600" u="none" cap="none" strike="noStrike">
              <a:solidFill>
                <a:srgbClr val="10141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2508500" y="2067536"/>
            <a:ext cx="2908200" cy="152400"/>
          </a:xfrm>
          <a:prstGeom prst="rect">
            <a:avLst/>
          </a:prstGeom>
          <a:solidFill>
            <a:srgbClr val="9AA0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5518400" y="2037057"/>
            <a:ext cx="4989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178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6B7178"/>
                </a:solidFill>
                <a:latin typeface="Inter"/>
                <a:ea typeface="Inter"/>
                <a:cs typeface="Inter"/>
                <a:sym typeface="Inter"/>
              </a:rPr>
              <a:t>0.654</a:t>
            </a:r>
            <a:endParaRPr b="0" i="0" sz="1200" u="none" cap="none" strike="noStrike">
              <a:solidFill>
                <a:srgbClr val="10141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2508500" y="2318996"/>
            <a:ext cx="3149700" cy="152400"/>
          </a:xfrm>
          <a:prstGeom prst="rect">
            <a:avLst/>
          </a:prstGeom>
          <a:solidFill>
            <a:srgbClr val="2457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5759700" y="2288514"/>
            <a:ext cx="5202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457F5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2457F5"/>
                </a:solidFill>
                <a:latin typeface="Inter"/>
                <a:ea typeface="Inter"/>
                <a:cs typeface="Inter"/>
                <a:sym typeface="Inter"/>
              </a:rPr>
              <a:t>0.709</a:t>
            </a:r>
            <a:endParaRPr b="0" i="0" sz="1200" u="none" cap="none" strike="noStrike">
              <a:solidFill>
                <a:srgbClr val="10141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10280900" y="2127225"/>
            <a:ext cx="9399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457F5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2457F5"/>
                </a:solidFill>
                <a:latin typeface="Inter"/>
                <a:ea typeface="Inter"/>
                <a:cs typeface="Inter"/>
                <a:sym typeface="Inter"/>
              </a:rPr>
              <a:t>+0.055</a:t>
            </a:r>
            <a:endParaRPr b="0" i="0" sz="1600" u="none" cap="none" strike="noStrike">
              <a:solidFill>
                <a:srgbClr val="10141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654300" y="2769846"/>
            <a:ext cx="17019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01418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101418"/>
                </a:solidFill>
                <a:latin typeface="Inter"/>
                <a:ea typeface="Inter"/>
                <a:cs typeface="Inter"/>
                <a:sym typeface="Inter"/>
              </a:rPr>
              <a:t>Negative F1</a:t>
            </a:r>
            <a:endParaRPr b="0" i="0" sz="1600" u="none" cap="none" strike="noStrike">
              <a:solidFill>
                <a:srgbClr val="10141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2508500" y="2710157"/>
            <a:ext cx="2705100" cy="152400"/>
          </a:xfrm>
          <a:prstGeom prst="rect">
            <a:avLst/>
          </a:prstGeom>
          <a:solidFill>
            <a:srgbClr val="9AA0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5315200" y="2679675"/>
            <a:ext cx="5007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178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6B7178"/>
                </a:solidFill>
                <a:latin typeface="Inter"/>
                <a:ea typeface="Inter"/>
                <a:cs typeface="Inter"/>
                <a:sym typeface="Inter"/>
              </a:rPr>
              <a:t>0.608</a:t>
            </a:r>
            <a:endParaRPr b="0" i="0" sz="1200" u="none" cap="none" strike="noStrike">
              <a:solidFill>
                <a:srgbClr val="10141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2508500" y="2961614"/>
            <a:ext cx="3187800" cy="152400"/>
          </a:xfrm>
          <a:prstGeom prst="rect">
            <a:avLst/>
          </a:prstGeom>
          <a:solidFill>
            <a:srgbClr val="2457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5797800" y="2931136"/>
            <a:ext cx="4662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457F5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2457F5"/>
                </a:solidFill>
                <a:latin typeface="Inter"/>
                <a:ea typeface="Inter"/>
                <a:cs typeface="Inter"/>
                <a:sym typeface="Inter"/>
              </a:rPr>
              <a:t>0.717</a:t>
            </a:r>
            <a:endParaRPr b="0" i="0" sz="1200" u="none" cap="none" strike="noStrike">
              <a:solidFill>
                <a:srgbClr val="10141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10280900" y="2769846"/>
            <a:ext cx="9399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457F5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2457F5"/>
                </a:solidFill>
                <a:latin typeface="Inter"/>
                <a:ea typeface="Inter"/>
                <a:cs typeface="Inter"/>
                <a:sym typeface="Inter"/>
              </a:rPr>
              <a:t>+0.109</a:t>
            </a:r>
            <a:endParaRPr b="0" i="0" sz="1600" u="none" cap="none" strike="noStrike">
              <a:solidFill>
                <a:srgbClr val="10141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654300" y="3412464"/>
            <a:ext cx="17019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01418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101418"/>
                </a:solidFill>
                <a:latin typeface="Inter"/>
                <a:ea typeface="Inter"/>
                <a:cs typeface="Inter"/>
                <a:sym typeface="Inter"/>
              </a:rPr>
              <a:t>Neutral F1</a:t>
            </a:r>
            <a:endParaRPr b="0" i="0" sz="1600" u="none" cap="none" strike="noStrike">
              <a:solidFill>
                <a:srgbClr val="10141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2508500" y="3352775"/>
            <a:ext cx="1714500" cy="152400"/>
          </a:xfrm>
          <a:prstGeom prst="rect">
            <a:avLst/>
          </a:prstGeom>
          <a:solidFill>
            <a:srgbClr val="9AA0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4324600" y="3322296"/>
            <a:ext cx="4932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178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6B7178"/>
                </a:solidFill>
                <a:latin typeface="Inter"/>
                <a:ea typeface="Inter"/>
                <a:cs typeface="Inter"/>
                <a:sym typeface="Inter"/>
              </a:rPr>
              <a:t>0.385</a:t>
            </a:r>
            <a:endParaRPr b="0" i="0" sz="1200" u="none" cap="none" strike="noStrike">
              <a:solidFill>
                <a:srgbClr val="10141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2508500" y="3604236"/>
            <a:ext cx="1930500" cy="152400"/>
          </a:xfrm>
          <a:prstGeom prst="rect">
            <a:avLst/>
          </a:prstGeom>
          <a:solidFill>
            <a:srgbClr val="2457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4540500" y="3573757"/>
            <a:ext cx="5346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457F5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2457F5"/>
                </a:solidFill>
                <a:latin typeface="Inter"/>
                <a:ea typeface="Inter"/>
                <a:cs typeface="Inter"/>
                <a:sym typeface="Inter"/>
              </a:rPr>
              <a:t>0.435</a:t>
            </a:r>
            <a:endParaRPr b="0" i="0" sz="1200" u="none" cap="none" strike="noStrike">
              <a:solidFill>
                <a:srgbClr val="10141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10280900" y="3412464"/>
            <a:ext cx="9399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457F5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2457F5"/>
                </a:solidFill>
                <a:latin typeface="Inter"/>
                <a:ea typeface="Inter"/>
                <a:cs typeface="Inter"/>
                <a:sym typeface="Inter"/>
              </a:rPr>
              <a:t>+0.050</a:t>
            </a:r>
            <a:endParaRPr b="0" i="0" sz="1600" u="none" cap="none" strike="noStrike">
              <a:solidFill>
                <a:srgbClr val="10141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654300" y="4055086"/>
            <a:ext cx="17019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01418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101418"/>
                </a:solidFill>
                <a:latin typeface="Inter"/>
                <a:ea typeface="Inter"/>
                <a:cs typeface="Inter"/>
                <a:sym typeface="Inter"/>
              </a:rPr>
              <a:t>Positive F1</a:t>
            </a:r>
            <a:endParaRPr b="0" i="0" sz="1600" u="none" cap="none" strike="noStrike">
              <a:solidFill>
                <a:srgbClr val="10141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2508500" y="3995396"/>
            <a:ext cx="4305300" cy="152400"/>
          </a:xfrm>
          <a:prstGeom prst="rect">
            <a:avLst/>
          </a:prstGeom>
          <a:solidFill>
            <a:srgbClr val="9AA0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6915400" y="3964914"/>
            <a:ext cx="5025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178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6B7178"/>
                </a:solidFill>
                <a:latin typeface="Inter"/>
                <a:ea typeface="Inter"/>
                <a:cs typeface="Inter"/>
                <a:sym typeface="Inter"/>
              </a:rPr>
              <a:t>0.969</a:t>
            </a:r>
            <a:endParaRPr b="0" i="0" sz="1200" u="none" cap="none" strike="noStrike">
              <a:solidFill>
                <a:srgbClr val="10141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2508500" y="4246857"/>
            <a:ext cx="4337100" cy="152400"/>
          </a:xfrm>
          <a:prstGeom prst="rect">
            <a:avLst/>
          </a:prstGeom>
          <a:solidFill>
            <a:srgbClr val="2457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6947150" y="4216375"/>
            <a:ext cx="5142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457F5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2457F5"/>
                </a:solidFill>
                <a:latin typeface="Inter"/>
                <a:ea typeface="Inter"/>
                <a:cs typeface="Inter"/>
                <a:sym typeface="Inter"/>
              </a:rPr>
              <a:t>0.976</a:t>
            </a:r>
            <a:endParaRPr b="0" i="0" sz="1200" u="none" cap="none" strike="noStrike">
              <a:solidFill>
                <a:srgbClr val="10141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10280900" y="4055086"/>
            <a:ext cx="9399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457F5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2457F5"/>
                </a:solidFill>
                <a:latin typeface="Inter"/>
                <a:ea typeface="Inter"/>
                <a:cs typeface="Inter"/>
                <a:sym typeface="Inter"/>
              </a:rPr>
              <a:t>+0.007</a:t>
            </a:r>
            <a:endParaRPr b="0" i="0" sz="1600" u="none" cap="none" strike="noStrike">
              <a:solidFill>
                <a:srgbClr val="10141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654300" y="4683736"/>
            <a:ext cx="108834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178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6B7178"/>
                </a:solidFill>
                <a:latin typeface="Inter"/>
                <a:ea typeface="Inter"/>
                <a:cs typeface="Inter"/>
                <a:sym typeface="Inter"/>
              </a:rPr>
              <a:t>Accuracy rises from 93.6% to 94.6%. The test set has only about 120 negative and 225 neutral reviews, so per-class scores are noisy.</a:t>
            </a:r>
            <a:endParaRPr b="0" i="0" sz="1600" u="none" cap="none" strike="noStrike">
              <a:solidFill>
                <a:srgbClr val="10141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654300" y="6022314"/>
            <a:ext cx="71946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178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6B7178"/>
                </a:solidFill>
                <a:latin typeface="Inter"/>
                <a:ea typeface="Inter"/>
                <a:cs typeface="Inter"/>
                <a:sym typeface="Inter"/>
              </a:rPr>
              <a:t>Task 1 · Sentiment model · Held-out test set, 5,190 reviews</a:t>
            </a:r>
            <a:endParaRPr b="0" i="0" sz="1200" u="none" cap="none" strike="noStrike">
              <a:solidFill>
                <a:srgbClr val="10141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9258550" y="6022314"/>
            <a:ext cx="19623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178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6B7178"/>
                </a:solidFill>
                <a:latin typeface="Inter"/>
                <a:ea typeface="Inter"/>
                <a:cs typeface="Inter"/>
                <a:sym typeface="Inter"/>
              </a:rPr>
              <a:t>07</a:t>
            </a:r>
            <a:endParaRPr b="0" i="0" sz="1200" u="none" cap="none" strike="noStrike">
              <a:solidFill>
                <a:srgbClr val="10141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/>
          <p:nvPr/>
        </p:nvSpPr>
        <p:spPr>
          <a:xfrm>
            <a:off x="502920" y="32004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64F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2864F0"/>
                </a:solidFill>
                <a:latin typeface="Arial"/>
                <a:ea typeface="Arial"/>
                <a:cs typeface="Arial"/>
                <a:sym typeface="Arial"/>
              </a:rPr>
              <a:t>TASK 2 · CATEGORY CLUSTERS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502920" y="658368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36 products enter. Five groups emerge.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502920" y="1874520"/>
            <a:ext cx="2084832" cy="27889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D7D9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640080" y="2084832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64F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864F0"/>
                </a:solidFill>
                <a:latin typeface="Arial"/>
                <a:ea typeface="Arial"/>
                <a:cs typeface="Arial"/>
                <a:sym typeface="Arial"/>
              </a:rPr>
              <a:t>FT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640080" y="2670048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Fire tablets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640080" y="324612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64F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864F0"/>
                </a:solidFill>
                <a:latin typeface="Arial"/>
                <a:ea typeface="Arial"/>
                <a:cs typeface="Arial"/>
                <a:sym typeface="Arial"/>
              </a:rPr>
              <a:t>13 products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640080" y="3657600"/>
            <a:ext cx="1737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37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F7378"/>
                </a:solidFill>
                <a:latin typeface="Arial"/>
                <a:ea typeface="Arial"/>
                <a:cs typeface="Arial"/>
                <a:sym typeface="Arial"/>
              </a:rPr>
              <a:t>17,605 reviews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37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F7378"/>
                </a:solidFill>
                <a:latin typeface="Arial"/>
                <a:ea typeface="Arial"/>
                <a:cs typeface="Arial"/>
                <a:sym typeface="Arial"/>
              </a:rPr>
              <a:t>Avg rating 4.49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2816352" y="1874520"/>
            <a:ext cx="2084832" cy="27889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D7D9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2953512" y="2084832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64F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864F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2953512" y="2670048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Echo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2953512" y="324612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64F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864F0"/>
                </a:solidFill>
                <a:latin typeface="Arial"/>
                <a:ea typeface="Arial"/>
                <a:cs typeface="Arial"/>
                <a:sym typeface="Arial"/>
              </a:rPr>
              <a:t>3 products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2953512" y="3657600"/>
            <a:ext cx="1737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37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F7378"/>
                </a:solidFill>
                <a:latin typeface="Arial"/>
                <a:ea typeface="Arial"/>
                <a:cs typeface="Arial"/>
                <a:sym typeface="Arial"/>
              </a:rPr>
              <a:t>7,261 reviews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37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F7378"/>
                </a:solidFill>
                <a:latin typeface="Arial"/>
                <a:ea typeface="Arial"/>
                <a:cs typeface="Arial"/>
                <a:sym typeface="Arial"/>
              </a:rPr>
              <a:t>Avg rating 4.66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5129784" y="1874520"/>
            <a:ext cx="2084832" cy="27889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D7D9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5266944" y="2084832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64F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864F0"/>
                </a:solidFill>
                <a:latin typeface="Arial"/>
                <a:ea typeface="Arial"/>
                <a:cs typeface="Arial"/>
                <a:sym typeface="Arial"/>
              </a:rPr>
              <a:t>TV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5266944" y="2670048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Fire TV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5266944" y="324612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64F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864F0"/>
                </a:solidFill>
                <a:latin typeface="Arial"/>
                <a:ea typeface="Arial"/>
                <a:cs typeface="Arial"/>
                <a:sym typeface="Arial"/>
              </a:rPr>
              <a:t>4 products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5266944" y="3657600"/>
            <a:ext cx="1737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37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F7378"/>
                </a:solidFill>
                <a:latin typeface="Arial"/>
                <a:ea typeface="Arial"/>
                <a:cs typeface="Arial"/>
                <a:sym typeface="Arial"/>
              </a:rPr>
              <a:t>5,080 reviews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37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F7378"/>
                </a:solidFill>
                <a:latin typeface="Arial"/>
                <a:ea typeface="Arial"/>
                <a:cs typeface="Arial"/>
                <a:sym typeface="Arial"/>
              </a:rPr>
              <a:t>Avg rating 4.70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7443216" y="1874520"/>
            <a:ext cx="2084832" cy="27889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D7D9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7580376" y="2084832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64F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864F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7580376" y="2670048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Kindle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7580376" y="324612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64F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864F0"/>
                </a:solidFill>
                <a:latin typeface="Arial"/>
                <a:ea typeface="Arial"/>
                <a:cs typeface="Arial"/>
                <a:sym typeface="Arial"/>
              </a:rPr>
              <a:t>6 products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7580376" y="3657600"/>
            <a:ext cx="1737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37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F7378"/>
                </a:solidFill>
                <a:latin typeface="Arial"/>
                <a:ea typeface="Arial"/>
                <a:cs typeface="Arial"/>
                <a:sym typeface="Arial"/>
              </a:rPr>
              <a:t>4,092 reviews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37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F7378"/>
                </a:solidFill>
                <a:latin typeface="Arial"/>
                <a:ea typeface="Arial"/>
                <a:cs typeface="Arial"/>
                <a:sym typeface="Arial"/>
              </a:rPr>
              <a:t>Avg rating 4.75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9756648" y="1874520"/>
            <a:ext cx="2084832" cy="27889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D7D9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9893808" y="2084832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64F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864F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9893808" y="2670048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Accessories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9893808" y="324612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64F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864F0"/>
                </a:solidFill>
                <a:latin typeface="Arial"/>
                <a:ea typeface="Arial"/>
                <a:cs typeface="Arial"/>
                <a:sym typeface="Arial"/>
              </a:rPr>
              <a:t>10 products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9893808" y="3657600"/>
            <a:ext cx="1737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37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F7378"/>
                </a:solidFill>
                <a:latin typeface="Arial"/>
                <a:ea typeface="Arial"/>
                <a:cs typeface="Arial"/>
                <a:sym typeface="Arial"/>
              </a:rPr>
              <a:t>555 reviews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37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F7378"/>
                </a:solidFill>
                <a:latin typeface="Arial"/>
                <a:ea typeface="Arial"/>
                <a:cs typeface="Arial"/>
                <a:sym typeface="Arial"/>
              </a:rPr>
              <a:t>Avg rating 4.29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914400" y="5257800"/>
            <a:ext cx="10332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We clustered products — not individual reviews — so high-volume products could not dominate the structure.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5"/>
          <p:cNvSpPr txBox="1"/>
          <p:nvPr>
            <p:ph idx="4294967295" type="sldNum"/>
          </p:nvPr>
        </p:nvSpPr>
        <p:spPr>
          <a:xfrm>
            <a:off x="11475720" y="6446520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"/>
          <p:cNvSpPr/>
          <p:nvPr/>
        </p:nvSpPr>
        <p:spPr>
          <a:xfrm>
            <a:off x="502920" y="32004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64F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2864F0"/>
                </a:solidFill>
                <a:latin typeface="Arial"/>
                <a:ea typeface="Arial"/>
                <a:cs typeface="Arial"/>
                <a:sym typeface="Arial"/>
              </a:rPr>
              <a:t>THE DATA FIGHT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502920" y="658368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The product names were wrong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548640" y="1828800"/>
            <a:ext cx="3401568" cy="274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D7D9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731520" y="2084832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37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F7378"/>
                </a:solidFill>
                <a:latin typeface="Arial"/>
                <a:ea typeface="Arial"/>
                <a:cs typeface="Arial"/>
                <a:sym typeface="Arial"/>
              </a:rPr>
              <a:t>B01J2G4VBG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731520" y="2651760"/>
            <a:ext cx="2971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378"/>
              </a:buClr>
              <a:buSzPts val="1500"/>
              <a:buFont typeface="Arial"/>
              <a:buNone/>
            </a:pPr>
            <a:r>
              <a:rPr b="0" i="0" lang="en-US" sz="1500" u="none" cap="none" strike="sngStrike">
                <a:solidFill>
                  <a:srgbClr val="6F7378"/>
                </a:solidFill>
                <a:latin typeface="Arial"/>
                <a:ea typeface="Arial"/>
                <a:cs typeface="Arial"/>
                <a:sym typeface="Arial"/>
              </a:rPr>
              <a:t>All-New Kindle E-reader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731520" y="3246120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64F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2864F0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731520" y="3657600"/>
            <a:ext cx="2971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Amazon 5W USB charger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4370832" y="1828800"/>
            <a:ext cx="3401568" cy="274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D7D9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"/>
          <p:cNvSpPr/>
          <p:nvPr/>
        </p:nvSpPr>
        <p:spPr>
          <a:xfrm>
            <a:off x="4553712" y="2084832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37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F7378"/>
                </a:solidFill>
                <a:latin typeface="Arial"/>
                <a:ea typeface="Arial"/>
                <a:cs typeface="Arial"/>
                <a:sym typeface="Arial"/>
              </a:rPr>
              <a:t>B00IOYAM4I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4553712" y="2651760"/>
            <a:ext cx="2971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378"/>
              </a:buClr>
              <a:buSzPts val="1500"/>
              <a:buFont typeface="Arial"/>
              <a:buNone/>
            </a:pPr>
            <a:r>
              <a:rPr b="0" i="0" lang="en-US" sz="1500" u="none" cap="none" strike="sngStrike">
                <a:solidFill>
                  <a:srgbClr val="6F7378"/>
                </a:solidFill>
                <a:latin typeface="Arial"/>
                <a:ea typeface="Arial"/>
                <a:cs typeface="Arial"/>
                <a:sym typeface="Arial"/>
              </a:rPr>
              <a:t>Kindle Fire 16 GB 7-inch tablet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4553712" y="3246120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64F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2864F0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4553712" y="3657600"/>
            <a:ext cx="2971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Kindle Voyage e-reader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8193024" y="1828800"/>
            <a:ext cx="3401568" cy="274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D7D9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"/>
          <p:cNvSpPr/>
          <p:nvPr/>
        </p:nvSpPr>
        <p:spPr>
          <a:xfrm>
            <a:off x="8375904" y="2084832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37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F7378"/>
                </a:solidFill>
                <a:latin typeface="Arial"/>
                <a:ea typeface="Arial"/>
                <a:cs typeface="Arial"/>
                <a:sym typeface="Arial"/>
              </a:rPr>
              <a:t>B00L9EPT8O + B01E6AO69U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8375904" y="2651760"/>
            <a:ext cx="2971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378"/>
              </a:buClr>
              <a:buSzPts val="1500"/>
              <a:buFont typeface="Arial"/>
              <a:buNone/>
            </a:pPr>
            <a:r>
              <a:rPr b="0" i="0" lang="en-US" sz="1500" u="none" cap="none" strike="sngStrike">
                <a:solidFill>
                  <a:srgbClr val="6F7378"/>
                </a:solidFill>
                <a:latin typeface="Arial"/>
                <a:ea typeface="Arial"/>
                <a:cs typeface="Arial"/>
                <a:sym typeface="Arial"/>
              </a:rPr>
              <a:t>Echo (White) or Amazon Fire TV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8375904" y="3246120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64F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2864F0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8375904" y="3657600"/>
            <a:ext cx="2971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Echo and Echo Dot speakers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1920240" y="5230368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64F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2864F0"/>
                </a:solidFill>
                <a:latin typeface="Arial"/>
                <a:ea typeface="Arial"/>
                <a:cs typeface="Arial"/>
                <a:sym typeface="Arial"/>
              </a:rPr>
              <a:t>Lesson: check the data before blaming the model.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6"/>
          <p:cNvSpPr txBox="1"/>
          <p:nvPr>
            <p:ph idx="4294967295" type="sldNum"/>
          </p:nvPr>
        </p:nvSpPr>
        <p:spPr>
          <a:xfrm>
            <a:off x="11475720" y="6446520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"/>
          <p:cNvSpPr/>
          <p:nvPr/>
        </p:nvSpPr>
        <p:spPr>
          <a:xfrm>
            <a:off x="502920" y="32004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64F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2864F0"/>
                </a:solidFill>
                <a:latin typeface="Arial"/>
                <a:ea typeface="Arial"/>
                <a:cs typeface="Arial"/>
                <a:sym typeface="Arial"/>
              </a:rPr>
              <a:t>TASK 3 · GENERATIVE AI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502920" y="658368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Can a fluent answer still be wrong?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731520" y="1737360"/>
            <a:ext cx="3977640" cy="3383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75">
            <a:solidFill>
              <a:srgbClr val="F0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1005840" y="2011680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545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D64545"/>
                </a:solidFill>
                <a:latin typeface="Arial"/>
                <a:ea typeface="Arial"/>
                <a:cs typeface="Arial"/>
                <a:sym typeface="Arial"/>
              </a:rPr>
              <a:t>FIRST DRAFT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1005840" y="260604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“Echo Dot Plus”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1005840" y="320040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545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D64545"/>
                </a:solidFill>
                <a:latin typeface="Arial"/>
                <a:ea typeface="Arial"/>
                <a:cs typeface="Arial"/>
                <a:sym typeface="Arial"/>
              </a:rPr>
              <a:t>Invented product / feature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1005840" y="3886200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37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6F7378"/>
                </a:solidFill>
                <a:latin typeface="Arial"/>
                <a:ea typeface="Arial"/>
                <a:cs typeface="Arial"/>
                <a:sym typeface="Arial"/>
              </a:rPr>
              <a:t>Sounds plausible.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37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6F7378"/>
                </a:solidFill>
                <a:latin typeface="Arial"/>
                <a:ea typeface="Arial"/>
                <a:cs typeface="Arial"/>
                <a:sym typeface="Arial"/>
              </a:rPr>
              <a:t>Still wrong.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4892040" y="3063240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64F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864F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5486400" y="1737360"/>
            <a:ext cx="5669280" cy="3383280"/>
          </a:xfrm>
          <a:prstGeom prst="roundRect">
            <a:avLst>
              <a:gd fmla="val 16667" name="adj"/>
            </a:avLst>
          </a:prstGeom>
          <a:solidFill>
            <a:srgbClr val="E9EEFF"/>
          </a:solidFill>
          <a:ln cap="flat" cmpd="sng" w="17775">
            <a:solidFill>
              <a:srgbClr val="286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5806440" y="201168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64F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864F0"/>
                </a:solidFill>
                <a:latin typeface="Arial"/>
                <a:ea typeface="Arial"/>
                <a:cs typeface="Arial"/>
                <a:sym typeface="Arial"/>
              </a:rPr>
              <a:t>OUR FIX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5833872" y="2578608"/>
            <a:ext cx="292608" cy="292608"/>
          </a:xfrm>
          <a:prstGeom prst="ellipse">
            <a:avLst/>
          </a:prstGeom>
          <a:solidFill>
            <a:srgbClr val="2864F0"/>
          </a:solidFill>
          <a:ln cap="flat" cmpd="sng" w="12700">
            <a:solidFill>
              <a:srgbClr val="286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5833872" y="2624328"/>
            <a:ext cx="29260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6291072" y="2606040"/>
            <a:ext cx="4343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Verified fact sheet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5833872" y="3236976"/>
            <a:ext cx="292608" cy="292608"/>
          </a:xfrm>
          <a:prstGeom prst="ellipse">
            <a:avLst/>
          </a:prstGeom>
          <a:solidFill>
            <a:srgbClr val="2864F0"/>
          </a:solidFill>
          <a:ln cap="flat" cmpd="sng" w="12700">
            <a:solidFill>
              <a:srgbClr val="286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"/>
          <p:cNvSpPr/>
          <p:nvPr/>
        </p:nvSpPr>
        <p:spPr>
          <a:xfrm>
            <a:off x="5833872" y="3282696"/>
            <a:ext cx="29260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6291072" y="3264408"/>
            <a:ext cx="4343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Qwen 3B writes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5833872" y="3895344"/>
            <a:ext cx="292608" cy="292608"/>
          </a:xfrm>
          <a:prstGeom prst="ellipse">
            <a:avLst/>
          </a:prstGeom>
          <a:solidFill>
            <a:srgbClr val="2864F0"/>
          </a:solidFill>
          <a:ln cap="flat" cmpd="sng" w="12700">
            <a:solidFill>
              <a:srgbClr val="286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"/>
          <p:cNvSpPr/>
          <p:nvPr/>
        </p:nvSpPr>
        <p:spPr>
          <a:xfrm>
            <a:off x="5833872" y="3941064"/>
            <a:ext cx="29260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6291072" y="3922776"/>
            <a:ext cx="4343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Check numbers + names + length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5806440" y="457200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64F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864F0"/>
                </a:solidFill>
                <a:latin typeface="Arial"/>
                <a:ea typeface="Arial"/>
                <a:cs typeface="Arial"/>
                <a:sym typeface="Arial"/>
              </a:rPr>
              <a:t>Every number comes from code. The model only writes.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7"/>
          <p:cNvSpPr txBox="1"/>
          <p:nvPr>
            <p:ph idx="4294967295" type="sldNum"/>
          </p:nvPr>
        </p:nvSpPr>
        <p:spPr>
          <a:xfrm>
            <a:off x="11475720" y="6446520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"/>
          <p:cNvSpPr/>
          <p:nvPr/>
        </p:nvSpPr>
        <p:spPr>
          <a:xfrm>
            <a:off x="502920" y="32004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64F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2864F0"/>
                </a:solidFill>
                <a:latin typeface="Arial"/>
                <a:ea typeface="Arial"/>
                <a:cs typeface="Arial"/>
                <a:sym typeface="Arial"/>
              </a:rPr>
              <a:t>LIVE DEMO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502920" y="658368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Your review. Our model. Right now.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822960" y="1920240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Give us a review →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841248" y="2670048"/>
            <a:ext cx="4572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378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6F7378"/>
                </a:solidFill>
                <a:latin typeface="Arial"/>
                <a:ea typeface="Arial"/>
                <a:cs typeface="Arial"/>
                <a:sym typeface="Arial"/>
              </a:rPr>
              <a:t>We’ll classify it live with our fine-tuned RoBERTa.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demo_qr.png" id="211" name="Google Shape;21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2320" y="1645920"/>
            <a:ext cx="2377440" cy="237744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8"/>
          <p:cNvSpPr/>
          <p:nvPr/>
        </p:nvSpPr>
        <p:spPr>
          <a:xfrm>
            <a:off x="6995160" y="416052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64F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864F0"/>
                </a:solidFill>
                <a:latin typeface="Arial"/>
                <a:ea typeface="Arial"/>
                <a:cs typeface="Arial"/>
                <a:sym typeface="Arial"/>
              </a:rPr>
              <a:t>SCAN TO TRY IT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8">
            <a:hlinkClick r:id="rId4"/>
          </p:cNvPr>
          <p:cNvSpPr/>
          <p:nvPr/>
        </p:nvSpPr>
        <p:spPr>
          <a:xfrm>
            <a:off x="1828800" y="5074920"/>
            <a:ext cx="8503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64F0"/>
              </a:buClr>
              <a:buSzPts val="1700"/>
              <a:buFont typeface="Arial"/>
              <a:buNone/>
            </a:pPr>
            <a:r>
              <a:rPr b="1" i="0" lang="en-US" sz="1700" u="sng" cap="none" strike="noStrike">
                <a:solidFill>
                  <a:srgbClr val="2864F0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huggingface.co/spaces/Roberto-Vargas/Workshop_1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8"/>
          <p:cNvSpPr txBox="1"/>
          <p:nvPr>
            <p:ph idx="4294967295" type="sldNum"/>
          </p:nvPr>
        </p:nvSpPr>
        <p:spPr>
          <a:xfrm>
            <a:off x="11475720" y="6446520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"/>
          <p:cNvSpPr/>
          <p:nvPr/>
        </p:nvSpPr>
        <p:spPr>
          <a:xfrm>
            <a:off x="502920" y="32004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64F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2864F0"/>
                </a:solidFill>
                <a:latin typeface="Arial"/>
                <a:ea typeface="Arial"/>
                <a:cs typeface="Arial"/>
                <a:sym typeface="Arial"/>
              </a:rPr>
              <a:t>WHAT WE LEARNED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502920" y="658368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Three rules we would carry into the next NLP project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822960" y="1691640"/>
            <a:ext cx="731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64F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2864F0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1737360" y="169164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Accuracy can lie.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5806440" y="1709928"/>
            <a:ext cx="5212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378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F7378"/>
                </a:solidFill>
                <a:latin typeface="Arial"/>
                <a:ea typeface="Arial"/>
                <a:cs typeface="Arial"/>
                <a:sym typeface="Arial"/>
              </a:rPr>
              <a:t>With 93% positive reviews, macro-F1 told the real story.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822960" y="3017520"/>
            <a:ext cx="731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64F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2864F0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1737360" y="301752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Check the data before the model.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5806440" y="3035808"/>
            <a:ext cx="5212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378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F7378"/>
                </a:solidFill>
                <a:latin typeface="Arial"/>
                <a:ea typeface="Arial"/>
                <a:cs typeface="Arial"/>
                <a:sym typeface="Arial"/>
              </a:rPr>
              <a:t>Wrong product names can poison clusters and generated text.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822960" y="4343400"/>
            <a:ext cx="731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64F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2864F0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1737360" y="434340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Let code compute. Let AI communicate.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5806440" y="4361688"/>
            <a:ext cx="5212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378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F7378"/>
                </a:solidFill>
                <a:latin typeface="Arial"/>
                <a:ea typeface="Arial"/>
                <a:cs typeface="Arial"/>
                <a:sym typeface="Arial"/>
              </a:rPr>
              <a:t>Ground generated writing in verified facts and checks.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9"/>
          <p:cNvSpPr txBox="1"/>
          <p:nvPr>
            <p:ph idx="4294967295" type="sldNum"/>
          </p:nvPr>
        </p:nvSpPr>
        <p:spPr>
          <a:xfrm>
            <a:off x="11475720" y="6446520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"/>
          <p:cNvSpPr/>
          <p:nvPr/>
        </p:nvSpPr>
        <p:spPr>
          <a:xfrm>
            <a:off x="502920" y="32004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64F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2864F0"/>
                </a:solidFill>
                <a:latin typeface="Arial"/>
                <a:ea typeface="Arial"/>
                <a:cs typeface="Arial"/>
                <a:sym typeface="Arial"/>
              </a:rPr>
              <a:t>YOUR TURN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502920" y="658368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Can you fool our model?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521208" y="1298448"/>
            <a:ext cx="10789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378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F7378"/>
                </a:solidFill>
                <a:latin typeface="Arial"/>
                <a:ea typeface="Arial"/>
                <a:cs typeface="Arial"/>
                <a:sym typeface="Arial"/>
              </a:rPr>
              <a:t>Try a review while we take questions.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demo_qr.png" id="240" name="Google Shape;24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120" y="1828800"/>
            <a:ext cx="2926080" cy="292608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0"/>
          <p:cNvSpPr/>
          <p:nvPr/>
        </p:nvSpPr>
        <p:spPr>
          <a:xfrm>
            <a:off x="1417320" y="493776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64F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864F0"/>
                </a:solidFill>
                <a:latin typeface="Arial"/>
                <a:ea typeface="Arial"/>
                <a:cs typeface="Arial"/>
                <a:sym typeface="Arial"/>
              </a:rPr>
              <a:t>SCAN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4709160" y="1828800"/>
            <a:ext cx="566928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NEGATIVE?</a:t>
            </a:r>
            <a:endParaRPr b="0" i="0" sz="3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NEUTRAL?</a:t>
            </a:r>
            <a:endParaRPr b="0" i="0" sz="3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POSITIVE?</a:t>
            </a:r>
            <a:endParaRPr b="0" i="0" sz="3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4709160" y="4617720"/>
            <a:ext cx="5120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64F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2864F0"/>
                </a:solidFill>
                <a:latin typeface="Arial"/>
                <a:ea typeface="Arial"/>
                <a:cs typeface="Arial"/>
                <a:sym typeface="Arial"/>
              </a:rPr>
              <a:t>Questions?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0"/>
          <p:cNvSpPr txBox="1"/>
          <p:nvPr>
            <p:ph idx="4294967295" type="sldNum"/>
          </p:nvPr>
        </p:nvSpPr>
        <p:spPr>
          <a:xfrm>
            <a:off x="11475720" y="6446520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2026-10-07T07:07:27Z</dcterms:created>
  <dc:creator>Customer Reviews NLP Workshop</dc:creator>
</cp:coreProperties>
</file>